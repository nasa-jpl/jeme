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ECCO</c:v>
                </c:pt>
                <c:pt idx="1">
                  <c:v>ISSM</c:v>
                </c:pt>
                <c:pt idx="2">
                  <c:v>MOMO-CHEM</c:v>
                </c:pt>
                <c:pt idx="3">
                  <c:v>EDMF</c:v>
                </c:pt>
                <c:pt idx="4">
                  <c:v>CMS-Flux</c:v>
                </c:pt>
                <c:pt idx="5">
                  <c:v>CARDAMOM</c:v>
                </c:pt>
                <c:pt idx="6">
                  <c:v>RAPID</c:v>
                </c:pt>
                <c:pt idx="7">
                  <c:v>LES</c:v>
                </c:pt>
                <c:pt idx="8">
                  <c:v>GRACE</c:v>
                </c:pt>
                <c:pt idx="9">
                  <c:v>SWOT</c:v>
                </c:pt>
                <c:pt idx="10">
                  <c:v>TROPESS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16320</c:v>
                </c:pt>
                <c:pt idx="1">
                  <c:v>3491</c:v>
                </c:pt>
                <c:pt idx="2">
                  <c:v>983</c:v>
                </c:pt>
                <c:pt idx="3">
                  <c:v>810</c:v>
                </c:pt>
                <c:pt idx="4">
                  <c:v>646</c:v>
                </c:pt>
                <c:pt idx="5">
                  <c:v>514</c:v>
                </c:pt>
                <c:pt idx="6">
                  <c:v>336</c:v>
                </c:pt>
                <c:pt idx="7">
                  <c:v>168</c:v>
                </c:pt>
                <c:pt idx="8">
                  <c:v>3084</c:v>
                </c:pt>
                <c:pt idx="9">
                  <c:v>371</c:v>
                </c:pt>
                <c:pt idx="10">
                  <c:v>771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Citations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ECCO</c:v>
                </c:pt>
                <c:pt idx="1">
                  <c:v>ISSM</c:v>
                </c:pt>
                <c:pt idx="2">
                  <c:v>MOMO-CHEM</c:v>
                </c:pt>
                <c:pt idx="3">
                  <c:v>EDMF</c:v>
                </c:pt>
                <c:pt idx="4">
                  <c:v>CMS-Flux</c:v>
                </c:pt>
                <c:pt idx="5">
                  <c:v>CARDAMOM</c:v>
                </c:pt>
                <c:pt idx="6">
                  <c:v>RAPID</c:v>
                </c:pt>
                <c:pt idx="7">
                  <c:v>LES</c:v>
                </c:pt>
                <c:pt idx="8">
                  <c:v>GRACE</c:v>
                </c:pt>
                <c:pt idx="9">
                  <c:v>SWOT</c:v>
                </c:pt>
                <c:pt idx="10">
                  <c:v>TROPESS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735123</c:v>
                </c:pt>
                <c:pt idx="1">
                  <c:v>153603</c:v>
                </c:pt>
                <c:pt idx="2">
                  <c:v>46257</c:v>
                </c:pt>
                <c:pt idx="3">
                  <c:v>40638</c:v>
                </c:pt>
                <c:pt idx="4">
                  <c:v>18932</c:v>
                </c:pt>
                <c:pt idx="5">
                  <c:v>18758</c:v>
                </c:pt>
                <c:pt idx="6">
                  <c:v>10351</c:v>
                </c:pt>
                <c:pt idx="7">
                  <c:v>3193</c:v>
                </c:pt>
                <c:pt idx="8">
                  <c:v>116806</c:v>
                </c:pt>
                <c:pt idx="9">
                  <c:v>6990</c:v>
                </c:pt>
                <c:pt idx="10">
                  <c:v>11502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</a:p>
        </c:txPr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Figure 1. Citation dataset overview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Papers and citations per JEME model and JEOE mission (post peer-review filter and multi-agent cleanup, 2026-04). Switch the value axis to logarithmic in PowerPoint to see small models clearly.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Figure 5. Cross-model bridge-paper matrix</a:t>
            </a:r>
          </a:p>
        </p:txBody>
      </p:sp>
      <p:pic>
        <p:nvPicPr>
          <p:cNvPr id="3" name="Picture 2" descr="fig5_networ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162" y="914400"/>
            <a:ext cx="586862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Bridge papers — the count of DOIs cited by both models in each pair. Diagonal omitted; matrix is symmetric.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Figure 7. Three-phase uncertainty quantification</a:t>
            </a:r>
          </a:p>
        </p:txBody>
      </p:sp>
      <p:pic>
        <p:nvPicPr>
          <p:cNvPr id="3" name="Picture 2" descr="fig7_uq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91" y="914400"/>
            <a:ext cx="1067056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Composite confidence is computed in three stages: deterministic scoring on metadata, multi-temperature LLM sampling, and adversarial skeptic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Figure 8. Earth-system-sphere coverage</a:t>
            </a:r>
          </a:p>
        </p:txBody>
      </p:sp>
      <p:pic>
        <p:nvPicPr>
          <p:cNvPr id="3" name="Picture 2" descr="fig8_sphere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714" y="914400"/>
            <a:ext cx="831752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Fraction of each model's papers that match keywords for each Earth-system sphere. Multi-sphere papers count toward every matching sphere.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Figure 9. Multi-source full-text retrieval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82880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Copernicus (10.5194)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18288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Wiley TDM</a:t>
            </a:r>
            <a:br/>
            <a:r>
              <a:rPr sz="1200">
                <a:solidFill>
                  <a:srgbClr val="000000"/>
                </a:solidFill>
              </a:rPr>
              <a:t>(10.1002/29/111)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18288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Elsevier TDM (10.1016)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18288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Unpaywall</a:t>
            </a:r>
            <a:br/>
            <a:r>
              <a:rPr sz="1200">
                <a:solidFill>
                  <a:srgbClr val="000000"/>
                </a:solidFill>
              </a:rPr>
              <a:t>PDF + 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108960"/>
            <a:ext cx="22860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OpenAlex</a:t>
            </a:r>
            <a:br/>
            <a:r>
              <a:rPr sz="1200">
                <a:solidFill>
                  <a:srgbClr val="000000"/>
                </a:solidFill>
              </a:rPr>
              <a:t>institutional repos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108960"/>
            <a:ext cx="22860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Semantic Scholar</a:t>
            </a:r>
            <a:br/>
            <a:r>
              <a:rPr sz="1200">
                <a:solidFill>
                  <a:srgbClr val="000000"/>
                </a:solidFill>
              </a:rPr>
              <a:t>openAccessPdf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108960"/>
            <a:ext cx="27432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DOI redirect (last resort)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572000"/>
            <a:ext cx="484632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Extract DAS + Methods +</a:t>
            </a:r>
            <a:br/>
            <a:r>
              <a:rPr sz="1200">
                <a:solidFill>
                  <a:srgbClr val="000000"/>
                </a:solidFill>
              </a:rPr>
              <a:t>marker contexts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669280"/>
            <a:ext cx="484632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200">
                <a:solidFill>
                  <a:srgbClr val="000000"/>
                </a:solidFill>
              </a:rPr>
              <a:t>Re-classify with Gemini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1828800"/>
            <a:ext cx="4709160" cy="274320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657600" y="2011680"/>
            <a:ext cx="2423160" cy="256032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011680"/>
            <a:ext cx="137160" cy="256032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80760" y="2011680"/>
            <a:ext cx="2148840" cy="256032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71800" y="3931920"/>
            <a:ext cx="3108960" cy="6400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80760" y="3931920"/>
            <a:ext cx="91440" cy="6400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3931920"/>
            <a:ext cx="3520440" cy="64008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5394960"/>
            <a:ext cx="0" cy="27432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Tiered DOI lookup. Each box is a fetch route; success at any tier short-circuits subsequent attempts. ~1,300 previously-failed fetches were recovered when OpenAlex was added.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</a:rPr>
              <a:t>Figure 10.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4572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Data sources</a:t>
            </a:r>
          </a:p>
          <a:p>
            <a:r>
              <a:rPr sz="1200">
                <a:solidFill>
                  <a:srgbClr val="000000"/>
                </a:solidFill>
              </a:rPr>
              <a:t>Semantic Scholar</a:t>
            </a:r>
            <a:br/>
            <a:r>
              <a:rPr sz="1200">
                <a:solidFill>
                  <a:srgbClr val="000000"/>
                </a:solidFill>
              </a:rPr>
              <a:t>Crossref</a:t>
            </a:r>
            <a:br/>
            <a:r>
              <a:rPr sz="1200">
                <a:solidFill>
                  <a:srgbClr val="000000"/>
                </a:solidFill>
              </a:rPr>
              <a:t>Unpaywall</a:t>
            </a:r>
            <a:br/>
            <a:r>
              <a:rPr sz="1200">
                <a:solidFill>
                  <a:srgbClr val="000000"/>
                </a:solidFill>
              </a:rPr>
              <a:t>OpenAlex</a:t>
            </a:r>
            <a:br/>
            <a:r>
              <a:rPr sz="1200">
                <a:solidFill>
                  <a:srgbClr val="000000"/>
                </a:solidFill>
              </a:rPr>
              <a:t>Wiley TDM</a:t>
            </a:r>
            <a:br/>
            <a:r>
              <a:rPr sz="1200">
                <a:solidFill>
                  <a:srgbClr val="000000"/>
                </a:solidFill>
              </a:rPr>
              <a:t>Elsevier TDM</a:t>
            </a:r>
            <a:br/>
            <a:r>
              <a:rPr sz="1200">
                <a:solidFill>
                  <a:srgbClr val="000000"/>
                </a:solidFill>
              </a:rPr>
              <a:t>Copernicus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097280"/>
            <a:ext cx="4114800" cy="4572000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Citation analytics pipeline</a:t>
            </a:r>
          </a:p>
          <a:p>
            <a:r>
              <a:rPr sz="1200">
                <a:solidFill>
                  <a:srgbClr val="000000"/>
                </a:solidFill>
              </a:rPr>
              <a:t>Seed identification</a:t>
            </a:r>
            <a:br/>
            <a:r>
              <a:rPr sz="1200">
                <a:solidFill>
                  <a:srgbClr val="000000"/>
                </a:solidFill>
              </a:rPr>
              <a:t>↓</a:t>
            </a:r>
            <a:br/>
            <a:r>
              <a:rPr sz="1200">
                <a:solidFill>
                  <a:srgbClr val="000000"/>
                </a:solidFill>
              </a:rPr>
              <a:t>Citation collection</a:t>
            </a:r>
            <a:br/>
            <a:r>
              <a:rPr sz="1200">
                <a:solidFill>
                  <a:srgbClr val="000000"/>
                </a:solidFill>
              </a:rPr>
              <a:t>↓</a:t>
            </a:r>
            <a:br/>
            <a:r>
              <a:rPr sz="1200">
                <a:solidFill>
                  <a:srgbClr val="000000"/>
                </a:solidFill>
              </a:rPr>
              <a:t>Multi-agent verification</a:t>
            </a:r>
            <a:br/>
            <a:r>
              <a:rPr sz="1200">
                <a:solidFill>
                  <a:srgbClr val="000000"/>
                </a:solidFill>
              </a:rPr>
              <a:t>↓</a:t>
            </a:r>
            <a:br/>
            <a:r>
              <a:rPr sz="1200">
                <a:solidFill>
                  <a:srgbClr val="000000"/>
                </a:solidFill>
              </a:rPr>
              <a:t>Peer-review filtering</a:t>
            </a:r>
            <a:br/>
            <a:r>
              <a:rPr sz="1200">
                <a:solidFill>
                  <a:srgbClr val="000000"/>
                </a:solidFill>
              </a:rPr>
              <a:t>↓</a:t>
            </a:r>
            <a:br/>
            <a:r>
              <a:rPr sz="1200">
                <a:solidFill>
                  <a:srgbClr val="000000"/>
                </a:solidFill>
              </a:rPr>
              <a:t>Full-text enrichment</a:t>
            </a:r>
            <a:br/>
            <a:r>
              <a:rPr sz="1200">
                <a:solidFill>
                  <a:srgbClr val="000000"/>
                </a:solidFill>
              </a:rPr>
              <a:t>↓</a:t>
            </a:r>
            <a:br/>
            <a:r>
              <a:rPr sz="1200">
                <a:solidFill>
                  <a:srgbClr val="000000"/>
                </a:solidFill>
              </a:rPr>
              <a:t>Gemini classification</a:t>
            </a:r>
            <a:br/>
            <a:r>
              <a:rPr sz="1200">
                <a:solidFill>
                  <a:srgbClr val="000000"/>
                </a:solidFill>
              </a:rPr>
              <a:t>↓</a:t>
            </a:r>
            <a:br/>
            <a:r>
              <a:rPr sz="1200">
                <a:solidFill>
                  <a:srgbClr val="000000"/>
                </a:solidFill>
              </a:rPr>
              <a:t>Three-phase UQ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1463040" cy="45720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Storage</a:t>
            </a:r>
          </a:p>
          <a:p>
            <a:r>
              <a:rPr sz="1200">
                <a:solidFill>
                  <a:srgbClr val="000000"/>
                </a:solidFill>
              </a:rPr>
              <a:t>{model}_</a:t>
            </a:r>
            <a:br/>
            <a:r>
              <a:rPr sz="1200">
                <a:solidFill>
                  <a:srgbClr val="000000"/>
                </a:solidFill>
              </a:rPr>
              <a:t>analyzed.json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49840" y="1097280"/>
            <a:ext cx="1554480" cy="457200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React dashboard</a:t>
            </a:r>
          </a:p>
          <a:p>
            <a:r>
              <a:rPr sz="1200">
                <a:solidFill>
                  <a:srgbClr val="000000"/>
                </a:solidFill>
              </a:rPr>
              <a:t>JEME (8 models)</a:t>
            </a:r>
            <a:br/>
            <a:r>
              <a:rPr sz="1200">
                <a:solidFill>
                  <a:srgbClr val="000000"/>
                </a:solidFill>
              </a:rPr>
              <a:t>JEOE (3 missions)</a:t>
            </a:r>
            <a:br/>
            <a:r>
              <a:rPr sz="1200">
                <a:solidFill>
                  <a:srgbClr val="000000"/>
                </a:solidFill>
              </a:rPr>
              <a:t>JESP (199 scientists)</a:t>
            </a:r>
            <a:br/>
            <a:r>
              <a:rPr sz="1200">
                <a:solidFill>
                  <a:srgbClr val="000000"/>
                </a:solidFill>
              </a:rPr>
              <a:t>Network analysis</a:t>
            </a:r>
            <a:br/>
            <a:r>
              <a:rPr sz="1200">
                <a:solidFill>
                  <a:srgbClr val="000000"/>
                </a:solidFill>
              </a:rPr>
              <a:t>Sphere coverage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3383280"/>
            <a:ext cx="4572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72400" y="3383280"/>
            <a:ext cx="4572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92640" y="3383280"/>
            <a:ext cx="457200" cy="0"/>
          </a:xfrm>
          <a:prstGeom prst="line">
            <a:avLst/>
          </a:prstGeom>
          <a:ln w="158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End-to-end data flow from external scholarly APIs through the citation analytics pipeline into per-model JSON storage and the React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