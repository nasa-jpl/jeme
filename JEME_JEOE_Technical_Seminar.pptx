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365760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5029200"/>
            <a:ext cx="10058400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JPL's Earth Modeling &amp; Observation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3C5FD"/>
                </a:solidFill>
                <a:latin typeface="Calibri"/>
              </a:defRPr>
            </a:pPr>
            <a:r>
              <a:t>Tracking Scientific Impact, Cross-Model Connections, and Capability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Technical Seminar  •  March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JPL's Earth Modeling Enterprise  •  JPL Earth Observation Enterprise  •  Model Capability Levels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502920" cy="3200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1760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Motivation &amp;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66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Why quantify model impact and maturity?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239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1.5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27632"/>
            <a:ext cx="502920" cy="3200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6149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JEME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80543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 Earth system models, domains, coupling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784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1.5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066544"/>
            <a:ext cx="50292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0538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JEOE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24434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NASA missions (GRACE, SWOT), relationship to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173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 min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505456"/>
            <a:ext cx="50292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249275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Citation Analytics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68325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Data collection, Large Language Model classification, verification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5562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2.5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944368"/>
            <a:ext cx="50292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293166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Data Quality &amp; Uncertainty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12216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Multi-agent verification, 3-phase uncertainty quantification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9951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83280"/>
            <a:ext cx="502920" cy="320040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33705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Cross-Model Network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35610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Bridge papers, connection matrix, co-authorship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434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1.5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822192"/>
            <a:ext cx="502920" cy="320040"/>
          </a:xfrm>
          <a:prstGeom prst="roundRect">
            <a:avLst/>
          </a:prstGeom>
          <a:solidFill>
            <a:srgbClr val="059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8094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Earth System Interconnections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99999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Sphere classification, inter-sphere research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8729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261104"/>
            <a:ext cx="50292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25880" y="42484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Model Capability Level Framework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4438904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Heritage (Technology Readiness Levels → Predictive Capability Maturity Model → Model Capability Levels), Tier 1 + Tier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43119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2 min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700016"/>
            <a:ext cx="502920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10-11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468731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Model Capability Level Results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25880" y="4877816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Radar chart, heatmap, model deep-dives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7508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2.5 min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5138928"/>
            <a:ext cx="502920" cy="3200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25880" y="51262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Gap Analysis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5880" y="5316728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Common development needs across JEME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51897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1.5 min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577840"/>
            <a:ext cx="502920" cy="32004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25880" y="55651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Dashboard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5880" y="575564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React, data flow, interactive features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5628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 min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6016752"/>
            <a:ext cx="50292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14-15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5880" y="60040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Calibri"/>
              </a:defRPr>
            </a:pPr>
            <a:r>
              <a:t>Path Forward &amp; Summary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25880" y="61945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Large Language Model-enhanced scoring, next steps, takeaways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606755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1.5 min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Motivation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20040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563EB"/>
                </a:solidFill>
                <a:latin typeface="Calibri"/>
              </a:defRPr>
            </a:pPr>
            <a:r>
              <a:t>Scientific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How widely are JPL models cited?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Which research domains adopt them?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What is the geographic reach?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Track growth and influence over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188720"/>
            <a:ext cx="3200400" cy="45720"/>
          </a:xfrm>
          <a:prstGeom prst="rect">
            <a:avLst/>
          </a:prstGeom>
          <a:solidFill>
            <a:srgbClr val="059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59F46"/>
                </a:solidFill>
                <a:latin typeface="Calibri"/>
              </a:defRPr>
            </a:pPr>
            <a:r>
              <a:t>Cross-Model Connections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0116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Which models share citing papers?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How do Earth system spheres interconnect?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Where are collaboration opportunities?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Identify bridge papers linking domains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88720"/>
            <a:ext cx="3200400" cy="457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1417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46E5"/>
                </a:solidFill>
                <a:latin typeface="Calibri"/>
              </a:defRPr>
            </a:pPr>
            <a:r>
              <a:t>Capability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0116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Are models fit for intended applications?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Where are common development gaps?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How to prioritize limited resources?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Systematic, evidence-based evaluation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03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Context: NASA's Earth Science to Action Strategy requires objective assessment of observation-informed</a:t>
            </a:r>
            <a:br/>
            <a:r>
              <a:t>models for advancing science, developing decision-support tools, and formulating new satellite missions.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JEME: JPL's Earth Modeling Enterprise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8 observation-informed modeling frameworks spanning the full Earth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463040" cy="384048"/>
          </a:xfrm>
          <a:prstGeom prst="rect">
            <a:avLst/>
          </a:prstGeom>
          <a:solidFill>
            <a:srgbClr val="1E40A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463040"/>
            <a:ext cx="2011680" cy="384048"/>
          </a:xfrm>
          <a:prstGeom prst="rect">
            <a:avLst/>
          </a:prstGeom>
          <a:solidFill>
            <a:srgbClr val="1E40A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Domain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463040"/>
            <a:ext cx="2926080" cy="384048"/>
          </a:xfrm>
          <a:prstGeom prst="rect">
            <a:avLst/>
          </a:prstGeom>
          <a:solidFill>
            <a:srgbClr val="1E40A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Data Assimilation 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463040"/>
            <a:ext cx="4572000" cy="384048"/>
          </a:xfrm>
          <a:prstGeom prst="rect">
            <a:avLst/>
          </a:prstGeom>
          <a:solidFill>
            <a:srgbClr val="1E40A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Key 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4630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1">
                <a:solidFill>
                  <a:srgbClr val="8B5CF6"/>
                </a:solidFill>
                <a:latin typeface="Calibri"/>
              </a:defRPr>
            </a:pPr>
            <a:r>
              <a:t>ECCO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20240" y="1847088"/>
            <a:ext cx="20116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Oceanography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847088"/>
            <a:ext cx="29260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Four-Dimensional Variational adjoint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847088"/>
            <a:ext cx="45720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Massachusetts Institute of Technology, University of Texas Austin, Scripps Institution of Oceanography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94560"/>
            <a:ext cx="14630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1">
                <a:solidFill>
                  <a:srgbClr val="06B6D4"/>
                </a:solidFill>
                <a:latin typeface="Calibri"/>
              </a:defRPr>
            </a:pPr>
            <a:r>
              <a:t>ISSM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2194560"/>
            <a:ext cx="20116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Cryosphere / Sea Level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194560"/>
            <a:ext cx="29260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Four-Dimensional Variational adjoint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194560"/>
            <a:ext cx="45720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University of California, Irvine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42032"/>
            <a:ext cx="14630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1">
                <a:solidFill>
                  <a:srgbClr val="F59E0B"/>
                </a:solidFill>
                <a:latin typeface="Calibri"/>
              </a:defRPr>
            </a:pPr>
            <a:r>
              <a:t>CMS-Flux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542032"/>
            <a:ext cx="20116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Carbon Flux Monitoring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2542032"/>
            <a:ext cx="29260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Four-Dimensional Variational adjoint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542032"/>
            <a:ext cx="45720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NASA Goddard Space Flight Center, Ames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89504"/>
            <a:ext cx="14630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1">
                <a:solidFill>
                  <a:srgbClr val="3B82F6"/>
                </a:solidFill>
                <a:latin typeface="Calibri"/>
              </a:defRPr>
            </a:pPr>
            <a:r>
              <a:t>RAPID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2889504"/>
            <a:ext cx="20116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Hydrology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889504"/>
            <a:ext cx="29260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Kalman Filter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889504"/>
            <a:ext cx="45720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University of Texas Austin, National Oceanic and Atmospheric Administration National Weather Service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36976"/>
            <a:ext cx="14630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1">
                <a:solidFill>
                  <a:srgbClr val="10B981"/>
                </a:solidFill>
                <a:latin typeface="Calibri"/>
              </a:defRPr>
            </a:pPr>
            <a:r>
              <a:t>CARDAMOM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20240" y="3236976"/>
            <a:ext cx="20116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Terrestrial Ecosystems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3236976"/>
            <a:ext cx="29260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Bayesian Markov Chain Monte Carlo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236976"/>
            <a:ext cx="45720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Stanford, Edinburgh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584448"/>
            <a:ext cx="14630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1">
                <a:solidFill>
                  <a:srgbClr val="EF4444"/>
                </a:solidFill>
                <a:latin typeface="Calibri"/>
              </a:defRPr>
            </a:pPr>
            <a:r>
              <a:t>MOMO-CHEM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3584448"/>
            <a:ext cx="20116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Atmospheric Chemistry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3584448"/>
            <a:ext cx="29260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Ensemble Kalman Filter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3584448"/>
            <a:ext cx="45720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Japan Agency for Marine-Earth Science and Technology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31920"/>
            <a:ext cx="14630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1">
                <a:solidFill>
                  <a:srgbClr val="2E8B57"/>
                </a:solidFill>
                <a:latin typeface="Calibri"/>
              </a:defRPr>
            </a:pPr>
            <a:r>
              <a:t>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20240" y="3931920"/>
            <a:ext cx="20116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Cloud / Turbulence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31920" y="3931920"/>
            <a:ext cx="29260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Process model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3931920"/>
            <a:ext cx="45720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University of Connecticut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79392"/>
            <a:ext cx="14630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1">
                <a:solidFill>
                  <a:srgbClr val="FF6347"/>
                </a:solidFill>
                <a:latin typeface="Calibri"/>
              </a:defRPr>
            </a:pPr>
            <a:r>
              <a:t>EDMF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279392"/>
            <a:ext cx="20116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Atmospheric Physics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1920" y="4279392"/>
            <a:ext cx="29260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374151"/>
                </a:solidFill>
                <a:latin typeface="Calibri"/>
              </a:defRPr>
            </a:pPr>
            <a:r>
              <a:t>Bayesian Inference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4279392"/>
            <a:ext cx="45720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900" b="0">
                <a:solidFill>
                  <a:srgbClr val="6B7280"/>
                </a:solidFill>
                <a:latin typeface="Calibri"/>
              </a:defRPr>
            </a:pPr>
            <a:r>
              <a:t>Geophysical Fluid Dynamics Laboratory, National Center for Atmospheric Research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All models are mission-essential JPL assets for: (1) addressing Decadal Survey questions,</a:t>
            </a:r>
            <a:br/>
            <a:r>
              <a:t>(2) developing decision-support applications, and (3) new satellite mission formulation.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JEOE: JPL Earth Observation Enterprise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754880" cy="320040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47548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Calibri"/>
              </a:defRPr>
            </a:pPr>
            <a:r>
              <a:t>GRACE / GRACE Follow-On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116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Gravity Recovery and Climate Experiment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Geophysics &amp; Geodesy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Tracks Earth's gravity field changes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Water storage, ice mass balance, sea level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Provides observational constraint for ECCO, ISSM, RAPID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4754880" cy="3200400"/>
          </a:xfrm>
          <a:prstGeom prst="round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47548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Calibri"/>
              </a:defRPr>
            </a:pPr>
            <a:r>
              <a:t>SWOT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116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Surface Water and Ocean Topography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B5CF6"/>
                </a:solidFill>
                <a:latin typeface="Calibri"/>
              </a:defRPr>
            </a:pPr>
            <a:r>
              <a:t>Ocean &amp; Inland Water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Ka-band radar interferometry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Unprecedented water surface elevation measurements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Key future data source for RAPID, ECCO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JEOE and JEME share a unified dashboard with context-aware navigation, cross-referencing</a:t>
            </a:r>
            <a:br/>
            <a:r>
              <a:t>mission observations with the models that assimilate their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Citation Analytics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371600"/>
            <a:ext cx="1920240" cy="20116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1. Seed Papers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Identify core</a:t>
            </a:r>
            <a:br/>
            <a:r>
              <a:t>algorithm &amp;</a:t>
            </a:r>
            <a:br/>
            <a:r>
              <a:t>application 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CA3A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1371600"/>
            <a:ext cx="1920240" cy="2011680"/>
          </a:xfrm>
          <a:prstGeom prst="roundRect">
            <a:avLst/>
          </a:prstGeom>
          <a:solidFill>
            <a:srgbClr val="059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2. Citation</a:t>
            </a:r>
            <a:br/>
            <a:r>
              <a:t>Collection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194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Semantic Scholar</a:t>
            </a:r>
            <a:br/>
            <a:r>
              <a:t>Crossref APIs</a:t>
            </a:r>
            <a:br/>
            <a:r>
              <a:t>batch retrieval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CA3A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1371600"/>
            <a:ext cx="1920240" cy="20116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3. Large Language</a:t>
            </a:r>
            <a:br/>
            <a:r>
              <a:t>Model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2194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Gemma3/Ollama:</a:t>
            </a:r>
            <a:br/>
            <a:r>
              <a:t>engagement level,</a:t>
            </a:r>
            <a:br/>
            <a:r>
              <a:t>domain, geography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CA3A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1371600"/>
            <a:ext cx="1920240" cy="20116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4. Multi-Agent</a:t>
            </a:r>
            <a:br/>
            <a:r>
              <a:t>Verification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194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Crossref +</a:t>
            </a:r>
            <a:br/>
            <a:r>
              <a:t>Semantic Scholar +</a:t>
            </a:r>
            <a:br/>
            <a:r>
              <a:t>keyword classifier +</a:t>
            </a:r>
            <a:br/>
            <a:r>
              <a:t>deduplication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2103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9CA3A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1371600"/>
            <a:ext cx="1920240" cy="20116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14630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5. Dashboard</a:t>
            </a:r>
            <a:br/>
            <a:r>
              <a:t>Visualization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19456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React + Recharts</a:t>
            </a:r>
            <a:br/>
            <a:r>
              <a:t>interactive charts</a:t>
            </a:r>
            <a:br/>
            <a:r>
              <a:t>per-model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Calibri"/>
              </a:defRPr>
            </a:pPr>
            <a:r>
              <a:t>Key Metrics per Model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3891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Total papers &amp; citations with growth trends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Engagement levels: Level 1 (background) → Level 4 (foundational)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Research domain distribution &amp; geographic reach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Cross-model bridge papers &amp; co-authorship networks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Data Quality &amp;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Multi-Agent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Team Paper Categorizer: relevance tier classification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Crossref Agent: Digital Object Identifier validation &amp; venue metadata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Semantic Scholar Agent: title recovery, batch enrichment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Keyword Classifier: domain-specific relevance scoring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Deduplication Agent: Digital Object Identifier-first, title-fallback detection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ECCO: removed ~3,900 off-topic entries; enriched 7,600+ venues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ISSM: repaired 1,904 broken team paper titles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F46E5"/>
                </a:solidFill>
                <a:latin typeface="Calibri"/>
              </a:defRPr>
            </a:pPr>
            <a:r>
              <a:t>3-Phase Uncertainty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Phase 1: Deterministic scoring — metadata completeness, keyword agreement, composite confidence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Phase 2: Multi-temperature Large Language Model sampling — Gemini 3× at temperatures [0.1, 0.5, 1.0], stochastic variance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Phase 3: Skeptic agent — challenges high-risk entries, override flags for disagreement ≤ 2/5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Result: calibrated confidence scores on every citation entry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False removal rate: ~8-12%; false retention: ~3-5%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Cross-Model Network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What We 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Bridge papers: shared citations across multiple models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Connection matrix: pairwise model overlap counts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Cross-model co-authorship: researchers spanning model teams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Domain overlap: shared research domain classifications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Network graph: force-directed visualization of connectivity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B6D4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Strongest connections: Estimating the Circulation and Climate of the Ocean ↔ Ice Sheet System Model (ocean-ice coupling), Carbon Monitoring System Flux ↔ CARDAMOM (carbon cycle)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Bridge papers reveal interdisciplinary research opportunities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374151"/>
                </a:solidFill>
                <a:latin typeface="Calibri"/>
              </a:rPr>
              <a:t>• Identifies potential collaboration gaps between modeling teams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097280"/>
            <a:ext cx="5029200" cy="3200400"/>
          </a:xfrm>
          <a:prstGeom prst="roundRect">
            <a:avLst/>
          </a:prstGeom>
          <a:solidFill>
            <a:srgbClr val="F0F4F8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2860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CA3AF"/>
                </a:solidFill>
                <a:latin typeface="Calibri"/>
              </a:defRPr>
            </a:pPr>
            <a:r>
              <a:t>[Network Graph Visualization]</a:t>
            </a:r>
            <a:br/>
            <a:r>
              <a:t>Interactive force-directed graph from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59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Earth System Interconnections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Classifying all JEME publications into Earth's five interconnected spheres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645920"/>
            <a:ext cx="1097280" cy="1097280"/>
          </a:xfrm>
          <a:prstGeom prst="ellipse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18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Atmo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34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Calibri"/>
              </a:defRPr>
            </a:pPr>
            <a:r>
              <a:t>Atmosphere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Clouds, radiation, chemistry, transport</a:t>
            </a:r>
          </a:p>
        </p:txBody>
      </p:sp>
      <p:sp>
        <p:nvSpPr>
          <p:cNvPr id="9" name="Oval 8"/>
          <p:cNvSpPr/>
          <p:nvPr/>
        </p:nvSpPr>
        <p:spPr>
          <a:xfrm>
            <a:off x="3154680" y="1645920"/>
            <a:ext cx="1097280" cy="109728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18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Hydr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834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Calibri"/>
              </a:defRPr>
            </a:pPr>
            <a:r>
              <a:t>Hydrosphere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Rivers, oceans, water cycle, precipitation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1645920"/>
            <a:ext cx="1097280" cy="1097280"/>
          </a:xfrm>
          <a:prstGeom prst="ellipse">
            <a:avLst/>
          </a:prstGeom>
          <a:solidFill>
            <a:srgbClr val="7DD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18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Cryo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834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Calibri"/>
              </a:defRPr>
            </a:pPr>
            <a:r>
              <a:t>Cryosphere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Ice sheets, glaciers, sea ice, permafrost</a:t>
            </a:r>
          </a:p>
        </p:txBody>
      </p:sp>
      <p:sp>
        <p:nvSpPr>
          <p:cNvPr id="15" name="Oval 14"/>
          <p:cNvSpPr/>
          <p:nvPr/>
        </p:nvSpPr>
        <p:spPr>
          <a:xfrm>
            <a:off x="7726680" y="1645920"/>
            <a:ext cx="1097280" cy="109728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18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Bios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834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Calibri"/>
              </a:defRPr>
            </a:pPr>
            <a:r>
              <a:t>Biosphere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Vegetation, carbon cycle, ecosystems</a:t>
            </a:r>
          </a:p>
        </p:txBody>
      </p:sp>
      <p:sp>
        <p:nvSpPr>
          <p:cNvPr id="18" name="Oval 17"/>
          <p:cNvSpPr/>
          <p:nvPr/>
        </p:nvSpPr>
        <p:spPr>
          <a:xfrm>
            <a:off x="10012680" y="1645920"/>
            <a:ext cx="1097280" cy="109728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18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Geos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834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Calibri"/>
              </a:defRPr>
            </a:pPr>
            <a:r>
              <a:t>Geosphere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108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Solid Earth, tectonics, gravity, topography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59F46"/>
                </a:solidFill>
                <a:latin typeface="Calibri"/>
              </a:defRPr>
            </a:pPr>
            <a:r>
              <a:t>Analysis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663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Keyword-based paper classification into spheres (multi-sphere papers counted for each)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Inter-sphere connection matrix: papers bridging multiple Earth system components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Interactive D3 force-directed graph with drag, zoom, hover highlighting, animated particles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Model-to-sphere mapping: which JEME models contribute to which spheres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Cross-sphere bridge papers table: highest-impact interdisciplinary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Model Capability Level (MCL)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2743200" cy="13716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NASA Technology</a:t>
            </a:r>
            <a:br/>
            <a:r>
              <a:t>Readiness Levels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Technology</a:t>
            </a:r>
            <a:br/>
            <a:r>
              <a:t>readiness</a:t>
            </a:r>
            <a:br/>
            <a:r>
              <a:t>(9 levels)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554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9CA3A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188720"/>
            <a:ext cx="2743200" cy="1371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Department of Energy</a:t>
            </a:r>
            <a:br/>
            <a:r>
              <a:t>Predictive Capability</a:t>
            </a:r>
            <a:br/>
            <a:r>
              <a:t>Maturity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Predictive</a:t>
            </a:r>
            <a:br/>
            <a:r>
              <a:t>capability</a:t>
            </a:r>
            <a:br/>
            <a:r>
              <a:t>(4 levels)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15544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9CA3A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188720"/>
            <a:ext cx="2743200" cy="137160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12801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JPL Model</a:t>
            </a:r>
            <a:br/>
            <a:r>
              <a:t>Capability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6916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Earth system</a:t>
            </a:r>
            <a:br/>
            <a:r>
              <a:t>model assessment</a:t>
            </a:r>
            <a:br/>
            <a:r>
              <a:t>(0-3 scale)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46E5"/>
                </a:solidFill>
                <a:latin typeface="Calibri"/>
              </a:defRPr>
            </a:pPr>
            <a:r>
              <a:t>Tier 1: Core Capabilities (14 dimensions)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74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Process Representation, Spatial &amp; Temporal Resolution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Process Coupling, Predictive Skill, Computational Performance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Observational Constraint, Retrospective Analysis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Uncertainty Quantification &amp; Attribution, Verification &amp; Validation Framework, Machine Learning / Artificial Intelligence Integration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Mission Support, Interoperability, Stakeholder Adoption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F46E5"/>
                </a:solidFill>
                <a:latin typeface="Calibri"/>
              </a:defRPr>
            </a:pPr>
            <a:r>
              <a:t>Tier 2: Application Domains (5 × 4 sub-dimensions)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Research: process fidelity, coupling, community impact, extremes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Data Assimilation: observational coverage, error correction, operational use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Verification, Validation, Uncertainty Quantification / Machine Learning: verification, artificial intelligence integration, emulator validation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Mission Support: Observing System Simulation Experiments, data assimilation readiness, Decadal Survey alignment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Decision Support: usability, regulatory relevance, uncertainty quantification communication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Calibri"/>
              </a:defRPr>
            </a:pPr>
            <a:r>
              <a:t>Scoring Scale: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52160"/>
            <a:ext cx="1828800" cy="320040"/>
          </a:xfrm>
          <a:prstGeom prst="round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  <a:latin typeface="Calibri"/>
              </a:defRPr>
            </a:pPr>
            <a:r>
              <a:t>Level 0 — None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5852160"/>
            <a:ext cx="1828800" cy="320040"/>
          </a:xfrm>
          <a:prstGeom prst="roundRect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  <a:latin typeface="Calibri"/>
              </a:defRPr>
            </a:pPr>
            <a:r>
              <a:t>Level 1 — 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5852160"/>
            <a:ext cx="1828800" cy="32004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  <a:latin typeface="Calibri"/>
              </a:defRPr>
            </a:pPr>
            <a:r>
              <a:t>Level 2 — Medium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5852160"/>
            <a:ext cx="1828800" cy="320040"/>
          </a:xfrm>
          <a:prstGeom prst="round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E293B"/>
                </a:solidFill>
                <a:latin typeface="Calibri"/>
              </a:defRPr>
            </a:pPr>
            <a:r>
              <a:t>Level 3 — 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MCL Results: Tier 1 Capability Heatmap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0972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Process Representation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Spatial Resolution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Temporal Resolution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Process Coupling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Predictive Skill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Computational Performance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Observational Constraint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Retrospective Analysis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Uncertainty Quantification &amp; Attribution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Verification &amp; Validation Framework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Machine Learning / Artificial Intelligence Integration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Mission Support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Interoperability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92640" y="1097280"/>
            <a:ext cx="64008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600" b="1">
                <a:solidFill>
                  <a:srgbClr val="FFFFFF"/>
                </a:solidFill>
                <a:latin typeface="Calibri"/>
              </a:defRPr>
            </a:pPr>
            <a:r>
              <a:t>Stakeholder Adoption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32720" y="1097280"/>
            <a:ext cx="548640" cy="384048"/>
          </a:xfrm>
          <a:prstGeom prst="rect">
            <a:avLst/>
          </a:prstGeom>
          <a:solidFill>
            <a:srgbClr val="312E81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Average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481328"/>
            <a:ext cx="10972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ECCO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1481328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148132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1481328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148132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1481328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0" y="148132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12080" y="1481328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481328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48132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1481328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1481328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0" y="1481328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1481328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2640" y="148132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32720" y="1481328"/>
            <a:ext cx="5486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2.5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1828800"/>
            <a:ext cx="10972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000" b="1">
                <a:solidFill>
                  <a:srgbClr val="06B6D4"/>
                </a:solidFill>
                <a:latin typeface="Calibri"/>
              </a:defRPr>
            </a:pPr>
            <a:r>
              <a:t>ISSM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71600" y="1828800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11680" y="1828800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51760" y="182880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91840" y="1828800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182880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0" y="182880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12080" y="182880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52160" y="182880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182880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1828800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0" y="1828800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12480" y="182880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52560" y="1828800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182880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332720" y="1828800"/>
            <a:ext cx="5486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2.3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176272"/>
            <a:ext cx="10972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000" b="1">
                <a:solidFill>
                  <a:srgbClr val="F59E0B"/>
                </a:solidFill>
                <a:latin typeface="Calibri"/>
              </a:defRPr>
            </a:pPr>
            <a:r>
              <a:t>CMS-Flux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7160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01168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5176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291840" y="2176272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0" y="2176272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12080" y="2176272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5216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0" y="2176272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1248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05256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92640" y="217627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2176272"/>
            <a:ext cx="5486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1.9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2523744"/>
            <a:ext cx="10972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000" b="1">
                <a:solidFill>
                  <a:srgbClr val="3B82F6"/>
                </a:solidFill>
                <a:latin typeface="Calibri"/>
              </a:defRPr>
            </a:pPr>
            <a:r>
              <a:t>RAPID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7160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1168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65176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9184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93192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1208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92240" y="2523744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13232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72400" y="2523744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1248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052560" y="2523744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692640" y="2523744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32720" y="2523744"/>
            <a:ext cx="5486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1.9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2871216"/>
            <a:ext cx="10972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000" b="1">
                <a:solidFill>
                  <a:srgbClr val="10B981"/>
                </a:solidFill>
                <a:latin typeface="Calibri"/>
              </a:defRPr>
            </a:pPr>
            <a:r>
              <a:t>CARDAMOM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71600" y="2871216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11680" y="2871216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651760" y="2871216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91840" y="2871216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931920" y="2871216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0" y="2871216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212080" y="2871216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52160" y="2871216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492240" y="2871216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132320" y="2871216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72400" y="2871216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412480" y="2871216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052560" y="2871216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92640" y="2871216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332720" y="2871216"/>
            <a:ext cx="5486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1.6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" y="3218688"/>
            <a:ext cx="10972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000" b="1">
                <a:solidFill>
                  <a:srgbClr val="EF4444"/>
                </a:solidFill>
                <a:latin typeface="Calibri"/>
              </a:defRPr>
            </a:pPr>
            <a:r>
              <a:t>MOMO-CHEM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7160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01168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65176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29184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93192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0" y="3218688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21208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85216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9224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132320" y="3218688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72400" y="3218688"/>
            <a:ext cx="640080" cy="347472"/>
          </a:xfrm>
          <a:prstGeom prst="rect">
            <a:avLst/>
          </a:prstGeom>
          <a:solidFill>
            <a:srgbClr val="D1D5DB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412480" y="3218688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052560" y="3218688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692640" y="3218688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332720" y="3218688"/>
            <a:ext cx="5486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1.6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74320" y="3566160"/>
            <a:ext cx="10972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000" b="1">
                <a:solidFill>
                  <a:srgbClr val="2E8B57"/>
                </a:solidFill>
                <a:latin typeface="Calibri"/>
              </a:defRPr>
            </a:pPr>
            <a:r>
              <a:t>LES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371600" y="3566160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011680" y="3566160"/>
            <a:ext cx="640080" cy="347472"/>
          </a:xfrm>
          <a:prstGeom prst="rect">
            <a:avLst/>
          </a:prstGeom>
          <a:solidFill>
            <a:srgbClr val="6EE7B7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651760" y="356616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291840" y="3566160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931920" y="3566160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572000" y="356616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212080" y="3566160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852160" y="3566160"/>
            <a:ext cx="640080" cy="347472"/>
          </a:xfrm>
          <a:prstGeom prst="rect">
            <a:avLst/>
          </a:prstGeom>
          <a:solidFill>
            <a:srgbClr val="D1D5DB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92240" y="3566160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132320" y="356616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72400" y="3566160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412480" y="3566160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052560" y="3566160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692640" y="3566160"/>
            <a:ext cx="640080" cy="347472"/>
          </a:xfrm>
          <a:prstGeom prst="rect">
            <a:avLst/>
          </a:prstGeom>
          <a:solidFill>
            <a:srgbClr val="D1D5DB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332720" y="3566160"/>
            <a:ext cx="5486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1.4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74320" y="3913632"/>
            <a:ext cx="109728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000" b="1">
                <a:solidFill>
                  <a:srgbClr val="FF6347"/>
                </a:solidFill>
                <a:latin typeface="Calibri"/>
              </a:defRPr>
            </a:pPr>
            <a:r>
              <a:t>EDMF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71600" y="391363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011680" y="3913632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2651760" y="391363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91840" y="391363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931920" y="3913632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72000" y="391363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212080" y="3913632"/>
            <a:ext cx="640080" cy="347472"/>
          </a:xfrm>
          <a:prstGeom prst="rect">
            <a:avLst/>
          </a:prstGeom>
          <a:solidFill>
            <a:srgbClr val="FDE68A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852160" y="3913632"/>
            <a:ext cx="640080" cy="347472"/>
          </a:xfrm>
          <a:prstGeom prst="rect">
            <a:avLst/>
          </a:prstGeom>
          <a:solidFill>
            <a:srgbClr val="D1D5DB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492240" y="391363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132320" y="391363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772400" y="391363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8412480" y="3913632"/>
            <a:ext cx="640080" cy="347472"/>
          </a:xfrm>
          <a:prstGeom prst="rect">
            <a:avLst/>
          </a:prstGeom>
          <a:solidFill>
            <a:srgbClr val="D1D5DB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052560" y="3913632"/>
            <a:ext cx="640080" cy="347472"/>
          </a:xfrm>
          <a:prstGeom prst="rect">
            <a:avLst/>
          </a:prstGeom>
          <a:solidFill>
            <a:srgbClr val="93C5F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692640" y="3913632"/>
            <a:ext cx="640080" cy="347472"/>
          </a:xfrm>
          <a:prstGeom prst="rect">
            <a:avLst/>
          </a:prstGeom>
          <a:solidFill>
            <a:srgbClr val="D1D5DB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0332720" y="3913632"/>
            <a:ext cx="54864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0">
                <a:solidFill>
                  <a:srgbClr val="1E293B"/>
                </a:solidFill>
                <a:latin typeface="Calibri"/>
              </a:defRPr>
            </a:pPr>
            <a:r>
              <a:t>1.4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731520" y="51206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  <a:latin typeface="Calibri"/>
              </a:defRPr>
            </a:pPr>
            <a:r>
              <a:t>Legend: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1645920" y="5120640"/>
            <a:ext cx="1463040" cy="274320"/>
          </a:xfrm>
          <a:prstGeom prst="round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E293B"/>
                </a:solidFill>
                <a:latin typeface="Calibri"/>
              </a:defRPr>
            </a:pPr>
            <a:r>
              <a:t>0 = None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474720" y="5120640"/>
            <a:ext cx="1463040" cy="274320"/>
          </a:xfrm>
          <a:prstGeom prst="roundRect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E293B"/>
                </a:solidFill>
                <a:latin typeface="Calibri"/>
              </a:defRPr>
            </a:pPr>
            <a:r>
              <a:t>1 = Low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303520" y="5120640"/>
            <a:ext cx="1463040" cy="274320"/>
          </a:xfrm>
          <a:prstGeom prst="round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E293B"/>
                </a:solidFill>
                <a:latin typeface="Calibri"/>
              </a:defRPr>
            </a:pPr>
            <a:r>
              <a:t>2 = Medium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7132320" y="5120640"/>
            <a:ext cx="1463040" cy="274320"/>
          </a:xfrm>
          <a:prstGeom prst="roundRect">
            <a:avLst/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1E293B"/>
                </a:solidFill>
                <a:latin typeface="Calibri"/>
              </a:defRPr>
            </a:pPr>
            <a:r>
              <a:t>3 = High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3152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Calibri"/>
              </a:defRPr>
            </a:pPr>
            <a:r>
              <a:t>Observations: ECCO and ISSM lead in overall capability (process representation, verification &amp; validation, mission support).</a:t>
            </a:r>
            <a:br/>
            <a:r>
              <a:t>Common gaps: machine learning / artificial intelligence integration, stakeholder adoption, and computational performance across most models.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Model Deep Dives: ECCO &amp; ISSM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30352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8B5CF6"/>
                </a:solidFill>
                <a:latin typeface="Calibri"/>
              </a:defRPr>
            </a:pPr>
            <a:r>
              <a:t>ECCO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188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E293B"/>
                </a:solidFill>
                <a:latin typeface="Calibri"/>
              </a:defRPr>
            </a:pPr>
            <a:r>
              <a:t>Tier 1 Average: 2.5/3.0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F46"/>
                </a:solidFill>
                <a:latin typeface="Calibri"/>
              </a:defRPr>
            </a:pPr>
            <a:r>
              <a:t>Strengths (Level 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Process Representation (3): State-of-the-art ocean general circulation model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Observational Constraint (3): 14+ observation types assimilated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Retrospective Analysis (3): version 4 release 4 reanalysis 1992-2017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Verification &amp; Validation Framework (3): Extensive intercomparison participation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Mission Support (3): Observing System Simulation Experiments for GRACE Follow-On, SWOT, Sentinel-6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Improvement Areas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434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Machine Learning / Artificial Intelligence Integration (1): Research-stage only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Stakeholder Adoption (2): Growing but not yet operational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005840"/>
            <a:ext cx="530352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6B6D4"/>
                </a:solidFill>
                <a:latin typeface="Calibri"/>
              </a:defRPr>
            </a:pPr>
            <a:r>
              <a:t>ISSM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188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E293B"/>
                </a:solidFill>
                <a:latin typeface="Calibri"/>
              </a:defRPr>
            </a:pPr>
            <a:r>
              <a:t>Tier 1 Average: 2.3/3.0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737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9F46"/>
                </a:solidFill>
                <a:latin typeface="Calibri"/>
              </a:defRPr>
            </a:pPr>
            <a:r>
              <a:t>Strengths (Level 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Process Representation (3): Full ice-sheet dynamics + solid Earth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Spatial Resolution (3): Adaptive mesh, sub-kilometer at margins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Process Coupling (3): 3-way ice-solid Earth-sea level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Verification &amp; Validation Framework (3): Ice Sheet Model Intercomparison Project for Coupled Model Intercomparison Project Phase 6, initial state Model Intercomparison Project benchmarking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Interoperability (3): Open source, active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023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9E0B"/>
                </a:solidFill>
                <a:latin typeface="Calibri"/>
              </a:defRPr>
            </a:pPr>
            <a:r>
              <a:t>Improvement Areas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34340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Machine Learning / Artificial Intelligence Integration (1): Exploratory only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Retrospective Analysis (2): Not continuous reanalysis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374151"/>
                </a:solidFill>
                <a:latin typeface="Calibri"/>
              </a:rPr>
              <a:t>• Stakeholder Adoption (2): Expert interpretation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Gap Analysis: Common Development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2743200" cy="384048"/>
          </a:xfrm>
          <a:prstGeom prst="rect">
            <a:avLst/>
          </a:prstGeom>
          <a:solidFill>
            <a:srgbClr val="7F1D1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Dimension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1188720"/>
            <a:ext cx="1828800" cy="384048"/>
          </a:xfrm>
          <a:prstGeom prst="rect">
            <a:avLst/>
          </a:prstGeom>
          <a:solidFill>
            <a:srgbClr val="7F1D1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Models &lt; Level 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188720"/>
            <a:ext cx="1371600" cy="384048"/>
          </a:xfrm>
          <a:prstGeom prst="rect">
            <a:avLst/>
          </a:prstGeom>
          <a:solidFill>
            <a:srgbClr val="7F1D1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Score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1371600" cy="384048"/>
          </a:xfrm>
          <a:prstGeom prst="rect">
            <a:avLst/>
          </a:prstGeom>
          <a:solidFill>
            <a:srgbClr val="7F1D1D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Priority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72768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Machine Learning / Artificial Intelligence Integration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572768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EF4444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572768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1.1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572768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EF4444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920240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Mission 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920240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920240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1.5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920240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F59E0B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67712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Stakeholder Adoption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2267712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267712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1.2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267712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F59E0B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15184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Process Coupling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2615184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2615184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1.8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2615184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F59E0B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62656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Computational Performance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962656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0" y="2962656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1.6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962656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F59E0B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10128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Spatial Resolution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0" y="3310128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10128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310128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059F46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657600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Predictive Skill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0" y="3657600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3657600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1.9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657600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059F46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005072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Observational Constraint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005072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0" y="4005072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2.0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005072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059F46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52544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Retrospective Analysis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4352544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4352544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1.6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352544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059F46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700016"/>
            <a:ext cx="27432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l">
              <a:defRPr sz="1100" b="0">
                <a:solidFill>
                  <a:srgbClr val="1E293B"/>
                </a:solidFill>
                <a:latin typeface="Calibri"/>
              </a:defRPr>
            </a:pPr>
            <a:r>
              <a:t>Uncertainty Quantification &amp; Attribution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700016"/>
            <a:ext cx="18288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0" y="4700016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0">
                <a:solidFill>
                  <a:srgbClr val="374151"/>
                </a:solidFill>
                <a:latin typeface="Calibri"/>
              </a:defRPr>
            </a:pPr>
            <a:r>
              <a:t>1.9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4700016"/>
            <a:ext cx="1371600" cy="347472"/>
          </a:xfrm>
          <a:prstGeom prst="rect">
            <a:avLst/>
          </a:prstGeom>
          <a:noFill/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0">
                <a:solidFill>
                  <a:srgbClr val="059F46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1188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Calibri"/>
              </a:defRPr>
            </a:pPr>
            <a:r>
              <a:t>Strategic Recommendations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173736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374151"/>
                </a:solidFill>
                <a:latin typeface="Calibri"/>
              </a:rPr>
              <a:t>Machine Learning / Artificial Intelligence Integration:</a:t>
            </a:r>
            <a:r>
              <a:rPr sz="1100">
                <a:solidFill>
                  <a:srgbClr val="374151"/>
                </a:solidFill>
                <a:latin typeface="Calibri"/>
              </a:rPr>
              <a:t> Most models at Level 0-1. Cross-model machine learning investment would benefit all teams.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374151"/>
                </a:solidFill>
                <a:latin typeface="Calibri"/>
              </a:rPr>
              <a:t>Stakeholder Adoption:</a:t>
            </a:r>
            <a:r>
              <a:rPr sz="1100">
                <a:solidFill>
                  <a:srgbClr val="374151"/>
                </a:solidFill>
                <a:latin typeface="Calibri"/>
              </a:rPr>
              <a:t> Bridge from research to operational use. Needs dedicated applications engagement.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374151"/>
                </a:solidFill>
                <a:latin typeface="Calibri"/>
              </a:rPr>
              <a:t>Computational Performance:</a:t>
            </a:r>
            <a:r>
              <a:rPr sz="1100">
                <a:solidFill>
                  <a:srgbClr val="374151"/>
                </a:solidFill>
                <a:latin typeface="Calibri"/>
              </a:rPr>
              <a:t> Graphics Processing Unit / cloud portability is a common barrier. Shared infrastructure investment.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374151"/>
                </a:solidFill>
                <a:latin typeface="Calibri"/>
              </a:rPr>
              <a:t>Retrospective Analysis:</a:t>
            </a:r>
            <a:r>
              <a:rPr sz="1100">
                <a:solidFill>
                  <a:srgbClr val="374151"/>
                </a:solidFill>
                <a:latin typeface="Calibri"/>
              </a:rPr>
              <a:t> Several models lack long-term reanalysis. Opportunity for coupled reanalysis products.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E293B"/>
                </a:solidFill>
                <a:latin typeface="Calibri"/>
              </a:defRPr>
            </a:pPr>
            <a:r>
              <a:t>Dashboard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74151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React (Create React App) with React Router for single-page application navigation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Tailwind Cascading Style Sheets for responsive, utility-first styling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Recharts for interactive data visualizations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D3.js + TopoJSON for force-directed graphs and maps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JavaScript Object Notation data files with dynamic imports per model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Lucide React for consistent iconography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74151"/>
                </a:solidFill>
                <a:latin typeface="Calibri"/>
              </a:defRPr>
            </a:pPr>
            <a:r>
              <a:t>Key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Context-aware navigation: JPL's Earth Modeling Enterprise ↔ JPL Earth Observation Enterprise with dynamic branding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Generic + model-specific page architecture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Cross-model comparison: network graph, heatmap, radar chart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Per-model drill-down: citations, geography, domains, uncertainty quantification, maturity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Model Capability Level dashboard: filterable radar, heatmap, gap analysis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374151"/>
                </a:solidFill>
                <a:latin typeface="Calibri"/>
              </a:rPr>
              <a:t>• Evidence-linked scoring: click any cell for justification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74151"/>
                </a:solidFill>
                <a:latin typeface="Calibri"/>
              </a:defRPr>
            </a:pPr>
            <a:r>
              <a:t>Route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>
                <a:solidFill>
                  <a:srgbClr val="6B7280"/>
                </a:solidFill>
                <a:latin typeface="Calibri"/>
              </a:rPr>
              <a:t>• /science-model-dashboard — JEME main dashboard (8 models)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7280"/>
                </a:solidFill>
                <a:latin typeface="Calibri"/>
              </a:rPr>
              <a:t>• /science-model-dashboard/JEOE — JEOE main dashboard (missions)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7280"/>
                </a:solidFill>
                <a:latin typeface="Calibri"/>
              </a:rPr>
              <a:t>• /science-model-dashboard/{model} — Model-specific dashboard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7280"/>
                </a:solidFill>
                <a:latin typeface="Calibri"/>
              </a:rPr>
              <a:t>• /science-model-dashboard/{model}/citations | geographic-impact | research-domains | uncertainty | maturity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7280"/>
                </a:solidFill>
                <a:latin typeface="Calibri"/>
              </a:rPr>
              <a:t>• /science-model-dashboard/earth-system — Earth System Interconnections</a:t>
            </a:r>
          </a:p>
          <a:p>
            <a:pPr>
              <a:spcAft>
                <a:spcPts val="600"/>
              </a:spcAft>
            </a:pPr>
            <a:r>
              <a:rPr sz="1000">
                <a:solidFill>
                  <a:srgbClr val="6B7280"/>
                </a:solidFill>
                <a:latin typeface="Calibri"/>
              </a:rPr>
              <a:t>• /science-model-dashboard/model-maturity — Cross-model MCL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Path Forward &amp;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45720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B82F6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BFDBFE"/>
                </a:solidFill>
                <a:latin typeface="Calibri"/>
              </a:rPr>
              <a:t>• Large Language Model-enhanced Model Capability Level scoring: auto-classify papers against dimensions, generate evidence summaries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FDBFE"/>
                </a:solidFill>
                <a:latin typeface="Calibri"/>
              </a:rPr>
              <a:t>• Periodic reassessment: establish annual Model Capability Level review cycle with model teams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FDBFE"/>
                </a:solidFill>
                <a:latin typeface="Calibri"/>
              </a:rPr>
              <a:t>• Community adoption: engage external evaluators for independent scoring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FDBFE"/>
                </a:solidFill>
                <a:latin typeface="Calibri"/>
              </a:rPr>
              <a:t>• Expand to coupled assessments: evaluate inter-model coupling maturity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FDBFE"/>
                </a:solidFill>
                <a:latin typeface="Calibri"/>
              </a:rPr>
              <a:t>• Extend JPL Earth Observation Enterprise: add more NASA missions as data becomes available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FDBFE"/>
                </a:solidFill>
                <a:latin typeface="Calibri"/>
              </a:rPr>
              <a:t>• Historical tracking: Model Capability Level score timelines to show model evolution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45720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BBF7D0"/>
                </a:solidFill>
                <a:latin typeface="Calibri"/>
              </a:rPr>
              <a:t>• Unified dashboard tracks citation impact across 8 models and 2 missions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BF7D0"/>
                </a:solidFill>
                <a:latin typeface="Calibri"/>
              </a:rPr>
              <a:t>• Multi-agent pipeline ensures data quality with calibrated uncertainty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BF7D0"/>
                </a:solidFill>
                <a:latin typeface="Calibri"/>
              </a:rPr>
              <a:t>• Earth system classification reveals cross-model research connections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BF7D0"/>
                </a:solidFill>
                <a:latin typeface="Calibri"/>
              </a:rPr>
              <a:t>• Model Capability Level framework provides systematic, evidence-based capability assessment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BF7D0"/>
                </a:solidFill>
                <a:latin typeface="Calibri"/>
              </a:rPr>
              <a:t>• Common gaps identified: machine learning / artificial intelligence integration and stakeholder adoption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BBF7D0"/>
                </a:solidFill>
                <a:latin typeface="Calibri"/>
              </a:rPr>
              <a:t>• Framework is living and extensible — designed for periodic reassessment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669280"/>
            <a:ext cx="12188952" cy="27432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Dashboard:  http://34.31.165.25:3000/science-model-dashboard/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172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Thank you — Questions?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CA3AF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