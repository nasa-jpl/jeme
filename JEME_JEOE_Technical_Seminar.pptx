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1" r:id="rId1"/>
    <p:sldMasterId id="2147483673" r:id="rId2"/>
    <p:sldMasterId id="2147483695" r:id="rId3"/>
  </p:sldMasterIdLst>
  <p:notesMasterIdLst>
    <p:notesMasterId r:id="rId11"/>
  </p:notesMasterIdLst>
  <p:handoutMasterIdLst>
    <p:handoutMasterId r:id="rId12"/>
  </p:handoutMasterIdLst>
  <p:sldIdLst>
    <p:sldId id="256" r:id="rId10"/>
    <p:sldId id="257" r:id="rId9"/>
    <p:sldId id="258" r:id="rId8"/>
    <p:sldId id="259" r:id="rId7"/>
    <p:sldId id="260" r:id="rId6"/>
    <p:sldId id="261" r:id="rId5"/>
    <p:sldId id="262" r:id="rId4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</p:sldIdLst>
  <p:sldSz cx="9144000" cy="5143500" type="screen16x9"/>
  <p:notesSz cx="6858000" cy="9144000"/>
  <p:custDataLst>
    <p:tags r:id="rId13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8987"/>
    <p:restoredTop sz="96619" autoAdjust="0"/>
  </p:normalViewPr>
  <p:slideViewPr>
    <p:cSldViewPr snapToGrid="0" snapToObjects="1">
      <p:cViewPr varScale="1">
        <p:scale>
          <a:sx n="119" d="100"/>
          <a:sy n="119" d="100"/>
        </p:scale>
        <p:origin x="192" y="174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7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12" Type="http://schemas.openxmlformats.org/officeDocument/2006/relationships/handoutMaster" Target="handoutMasters/handoutMaster1.xml"/><Relationship Id="rId13" Type="http://schemas.openxmlformats.org/officeDocument/2006/relationships/tags" Target="tags/tag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767AB6-DDEA-CF4E-A74B-19A554508643}" type="datetimeFigureOut">
              <a:rPr lang="en-US" smtClean="0">
                <a:latin typeface="Arial"/>
              </a:rPr>
              <a:t>9/1/25</a:t>
            </a:fld>
            <a:endParaRPr lang="en-US" dirty="0">
              <a:latin typeface="Arial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ial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300F83-E232-AF4B-BEC0-F9D716239A3F}" type="slidenum">
              <a:rPr lang="en-US" smtClean="0">
                <a:latin typeface="Arial"/>
              </a:rPr>
              <a:t>‹#›</a:t>
            </a:fld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0523010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/>
              </a:defRPr>
            </a:lvl1pPr>
          </a:lstStyle>
          <a:p>
            <a:fld id="{72DD8AEC-B96B-2C4C-86B3-8483D80B216B}" type="datetimeFigureOut">
              <a:rPr lang="en-US" smtClean="0"/>
              <a:pPr/>
              <a:t>9/1/25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/>
              </a:defRPr>
            </a:lvl1pPr>
          </a:lstStyle>
          <a:p>
            <a:fld id="{4180AB40-CF9C-CB44-AF47-E5E5B00AC33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257177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Arial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Arial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Arial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Arial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Arial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Calibri"/>
              </a:defRPr>
            </a:pPr>
            <a:r>
              <a:t>Welcome everyone — thank you for joining.</a:t>
            </a:r>
            <a:br/>
            <a:br/>
            <a:r>
              <a:t>Today I'll walk you through what we've built: a unified platform that tracks the scientific impact, cross-model connections, and capability maturity of JPL's Earth science models and missions.</a:t>
            </a:r>
            <a:br/>
            <a:br/>
            <a:r>
              <a:t>By the end, you'll see how citation data, AI classification, and network analysis come together — plus a surprise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Calibri"/>
              </a:defRPr>
            </a:pPr>
            <a:r>
              <a:t>Four themes in about 20 minutes.</a:t>
            </a:r>
            <a:br/>
            <a:br/>
            <a:r>
              <a:t>First, the "why" — motivation and scope of what JEME and JEOE cover.</a:t>
            </a:r>
            <a:br/>
            <a:br/>
            <a:r>
              <a:t>Then the analytics engine — how we collect, classify, and quality-check thousands of citations.</a:t>
            </a:r>
            <a:br/>
            <a:br/>
            <a:r>
              <a:t>Next, the insights — what the data tells us about model interconnections, Earth system coverage, and capability maturity.</a:t>
            </a:r>
            <a:br/>
            <a:br/>
            <a:r>
              <a:t>And finally, a synthesis section with a surprise addition you haven't seen before. Let's dive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Calibri"/>
              </a:defRPr>
            </a:pPr>
            <a:r>
              <a:t>Why are we doing this?</a:t>
            </a:r>
            <a:br/>
            <a:br/>
            <a:r>
              <a:t>NASA's Earth Science to Action strategy — and JPL's own Strategic R&amp;TD investment — call for objective, evidence-based assessments of our models.</a:t>
            </a:r>
            <a:br/>
            <a:br/>
            <a:r>
              <a:t>Three questions drive the dashboard:</a:t>
            </a:r>
            <a:br/>
            <a:r>
              <a:t>- Scientific impact: are our models being used? by whom? where?</a:t>
            </a:r>
            <a:br/>
            <a:r>
              <a:t>- Cross-model connections: which models share research communities?</a:t>
            </a:r>
            <a:br/>
            <a:r>
              <a:t>- Capability assessment: are models ready for the applications we need them for?</a:t>
            </a:r>
            <a:br/>
            <a:br/>
            <a:r>
              <a:t>This dashboard gives us the quantitative evidence to answer those questions — not opinions,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Calibri"/>
              </a:defRPr>
            </a:pPr>
            <a:r>
              <a:t>JEME covers eight observation-informed models spanning the full Earth system.</a:t>
            </a:r>
            <a:br/>
            <a:br/>
            <a:r>
              <a:t>You can see the range — from ECCO's ocean state estimation to EDMF's atmospheric physics, from ISSM's ice sheets to CARDAMOM's terrestrial ecosystems.</a:t>
            </a:r>
            <a:br/>
            <a:br/>
            <a:r>
              <a:t>Note the variety of data assimilation methods — 4D-Var, Kalman filtering, Bayesian MCMC — and the strong university partnerships.</a:t>
            </a:r>
            <a:br/>
            <a:br/>
            <a:r>
              <a:t>All eight are mission-essential JPL assets. They support Decadal Survey science, decision-support tools, and new mission formulation.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Calibri"/>
              </a:defRPr>
            </a:pPr>
            <a:r>
              <a:t>Here's what the dashboard actually looks like.</a:t>
            </a:r>
            <a:br/>
            <a:br/>
            <a:r>
              <a:t>On the left — the main JEME page. That's an interactive 3D Earth with all eight models positioned around it. You can click into any model.</a:t>
            </a:r>
            <a:br/>
            <a:br/>
            <a:r>
              <a:t>On the right — the ECCO model-specific view. Citation trends, engagement levels, geographic reach, research domains — all generated automatically from the data pipeline.</a:t>
            </a:r>
            <a:br/>
            <a:br/>
            <a:r>
              <a:t>Feel free to explore it live at the URL shown — it's fully interactive.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Calibri"/>
              </a:defRPr>
            </a:pPr>
            <a:r>
              <a:t>JEOE is the observation side of the house — NASA missions that provide the data our models assimilate.</a:t>
            </a:r>
            <a:br/>
            <a:br/>
            <a:r>
              <a:t>GRACE measures gravity field changes — essential for tracking water storage, ice mass, and sea level. It feeds directly into ECCO, ISSM, and RAPID.</a:t>
            </a:r>
            <a:br/>
            <a:br/>
            <a:r>
              <a:t>SWOT measures water surface elevation with unprecedented precision — a key future data source.</a:t>
            </a:r>
            <a:br/>
            <a:br/>
            <a:r>
              <a:t>The dashboard links missions to models so you can see the observation-to-model pipeline in one place.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Calibri"/>
              </a:defRPr>
            </a:pPr>
            <a:r>
              <a:t>The JEOE dashboard mirrors JEME's design but focuses on missions.</a:t>
            </a:r>
            <a:br/>
            <a:br/>
            <a:r>
              <a:t>Left: the main comparison page — GRACE has over 5,400 papers and 179,000 citations. SWOT, being newer, has 782 papers but is growing rapidly.</a:t>
            </a:r>
            <a:br/>
            <a:br/>
            <a:r>
              <a:t>Right: GRACE's detailed view with the same analytics — citation trends, research domains, geographic impact.</a:t>
            </a:r>
            <a:br/>
            <a:br/>
            <a:r>
              <a:t>Notice the navigation bar switches context automatically — JEME shows "Models," JEOE shows "Missions," and they cross-link to each other.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Calibri"/>
              </a:defRPr>
            </a:pPr>
            <a:r>
              <a:t>This is the engine behind everything.</a:t>
            </a:r>
            <a:br/>
            <a:br/>
            <a:r>
              <a:t>Five steps: we start with seed papers — the core algorithm and application papers for each model. Then we pull all citing papers from Semantic Scholar and Crossref.</a:t>
            </a:r>
            <a:br/>
            <a:br/>
            <a:r>
              <a:t>Next, a local LLM — Gemma3 running on Ollama — classifies every paper by engagement level, research domain, and geography.</a:t>
            </a:r>
            <a:br/>
            <a:br/>
            <a:r>
              <a:t>Then multi-agent verification cross-checks the results. And finally, everything flows into the React dashboard.</a:t>
            </a:r>
            <a:br/>
            <a:br/>
            <a:r>
              <a:t>Key point: this entire pipeline is automated and reproducible. Add a new model, run the pipeline, and you have a full analytics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Calibri"/>
              </a:defRPr>
            </a:pPr>
            <a:r>
              <a:t>Data quality is something we take seriously.</a:t>
            </a:r>
            <a:br/>
            <a:br/>
            <a:r>
              <a:t>On the left — five specialized agents work together. The team paper categorizer, Crossref and Semantic Scholar agents, a keyword classifier, and a deduplication agent. Each catches different types of errors.</a:t>
            </a:r>
            <a:br/>
            <a:br/>
            <a:r>
              <a:t>Real impact: for ECCO, we removed 3,900 off-topic entries and enriched 7,600 venue records. For ISSM, we repaired over 1,900 broken paper titles.</a:t>
            </a:r>
            <a:br/>
            <a:br/>
            <a:r>
              <a:t>On the right — a 3-phase uncertainty pipeline gives every citation a calibrated confidence score. Phase 1 is deterministic, Phase 2 uses multi-temperature LLM sampling, and Phase 3 has a skeptic agent that challenges the results.</a:t>
            </a:r>
            <a:br/>
            <a:br/>
            <a:r>
              <a:t>Bottom line: we know how confident we are in every data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Calibri"/>
              </a:defRPr>
            </a:pPr>
            <a:r>
              <a:t>This is one of my favorite parts — the cross-model network analysis.</a:t>
            </a:r>
            <a:br/>
            <a:br/>
            <a:r>
              <a:t>We look for bridge papers — citations that appear in multiple models' datasets. That tells us which research communities overlap.</a:t>
            </a:r>
            <a:br/>
            <a:br/>
            <a:r>
              <a:t>The diagram on the right shows the connectivity. Thick lines mean strong connections. ECCO and ISSM are tightly linked through ocean-ice research. CMS-Flux and CARDAMOM connect through carbon cycle work.</a:t>
            </a:r>
            <a:br/>
            <a:br/>
            <a:r>
              <a:t>This isn't just interesting — it identifies concrete collaboration opportunities between modeling teams.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Calibri"/>
              </a:defRPr>
            </a:pPr>
            <a:r>
              <a:t>Every JEME publication is classified into one or more of Earth's five spheres — atmosphere, hydrosphere, cryosphere, biosphere, and geosphere.</a:t>
            </a:r>
            <a:br/>
            <a:br/>
            <a:r>
              <a:t>The diagram shows which models contribute to which spheres — and how those spheres are interconnected through shared research.</a:t>
            </a:r>
            <a:br/>
            <a:br/>
            <a:r>
              <a:t>On the dashboard, this is an interactive D3 force-directed graph. You can drag nodes, zoom in, and hover to see which papers bridge multiple spheres.</a:t>
            </a:r>
            <a:br/>
            <a:br/>
            <a:r>
              <a:t>This gives us a systems-level view of how JEME's research covers the Earth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Calibri"/>
              </a:defRPr>
            </a:pPr>
            <a:r>
              <a:t>Now we move from impact to capability. The Model Capability Level framework.</a:t>
            </a:r>
            <a:br/>
            <a:br/>
            <a:r>
              <a:t>The heritage is clear: NASA's Technology Readiness Levels inspired DOE's Predictive Capability Maturity Model, and we adapted that for Earth science models on a 0-to-3 scale.</a:t>
            </a:r>
            <a:br/>
            <a:br/>
            <a:r>
              <a:t>Tier 1 has 14 core dimensions — from process representation to mission support.</a:t>
            </a:r>
            <a:br/>
            <a:br/>
            <a:r>
              <a:t>Tier 2 adds application-specific assessment across five domains.</a:t>
            </a:r>
            <a:br/>
            <a:br/>
            <a:r>
              <a:t>This gives us a systematic, repeatable way to evaluate model maturity — not just "is it published," but "is it ready for the job we need it to do?"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Calibri"/>
              </a:defRPr>
            </a:pPr>
            <a:r>
              <a:t>Here's the full Tier 1 heatmap across all eight models.</a:t>
            </a:r>
            <a:br/>
            <a:br/>
            <a:r>
              <a:t>Green is good — Level 3. Red is Level 0, meaning that capability doesn't exist yet.</a:t>
            </a:r>
            <a:br/>
            <a:br/>
            <a:r>
              <a:t>Two things jump out immediately:</a:t>
            </a:r>
            <a:br/>
            <a:r>
              <a:t>First, ECCO and ISSM lead overall — they're the most mature models.</a:t>
            </a:r>
            <a:br/>
            <a:r>
              <a:t>Second, look at the ML/AI column — almost entirely orange and red. That's our biggest cross-cutting gap.</a:t>
            </a:r>
            <a:br/>
            <a:br/>
            <a:r>
              <a:t>Stakeholder adoption is another common weakness. Most models are still research tools, not operational products.</a:t>
            </a:r>
            <a:br/>
            <a:br/>
            <a:r>
              <a:t>This one slide tells a strategic story about where to invest.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Calibri"/>
              </a:defRPr>
            </a:pPr>
            <a:r>
              <a:t>Let's zoom into the top two models.</a:t>
            </a:r>
            <a:br/>
            <a:br/>
            <a:r>
              <a:t>ECCO scores 2.5 out of 3 — the highest in JEME. It has eight dimensions at Level 3, which is remarkable. Process representation, temporal resolution, predictive skill, observational constraint with 14+ data types, retrospective analysis spanning 1992 to 2017, a strong V&amp;V framework, active mission support through OSSEs, and full interoperability with open data and community tools.</a:t>
            </a:r>
            <a:br/>
            <a:br/>
            <a:r>
              <a:t>ISSM scores 2.3 with five Level-3 dimensions. Spatial resolution with adaptive meshing down to sub-kilometer, three-way process coupling, and full interoperability as open source.</a:t>
            </a:r>
            <a:br/>
            <a:br/>
            <a:r>
              <a:t>Both share the same improvement areas: ML/AI is still exploratory, and stakeholder adoption needs work.</a:t>
            </a:r>
            <a:br/>
            <a:br/>
            <a:r>
              <a:t>The pattern is clear — technically excellent models that need investment in AI integration and operational pathways.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Calibri"/>
              </a:defRPr>
            </a:pPr>
            <a:r>
              <a:t>The gap analysis makes the strategic priorities concrete.</a:t>
            </a:r>
            <a:br/>
            <a:br/>
            <a:r>
              <a:t>ML/AI integration is the standout — six out of eight models score below Level 2, with a mean of just 1.1. This is the single highest-impact investment opportunity.</a:t>
            </a:r>
            <a:br/>
            <a:br/>
            <a:r>
              <a:t>Mission support and stakeholder adoption are medium priority. Process coupling and computational performance round out the list.</a:t>
            </a:r>
            <a:br/>
            <a:br/>
            <a:r>
              <a:t>The recommendations at the bottom are actionable: a cross-model ML initiative would benefit all eight teams. Shared GPU/cloud infrastructure addresses computational barriers.</a:t>
            </a:r>
            <a:br/>
            <a:br/>
            <a:r>
              <a:t>This is exactly the kind of evidence base that Strategic R&amp;TD planning needs.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Calibri"/>
              </a:defRPr>
            </a:pPr>
            <a:r>
              <a:t>Quick architecture overview for the technically curious.</a:t>
            </a:r>
            <a:br/>
            <a:br/>
            <a:r>
              <a:t>It's a React single-page application — Create React App with React Router. Tailwind CSS for styling. Recharts and D3 for visualizations.</a:t>
            </a:r>
            <a:br/>
            <a:br/>
            <a:r>
              <a:t>The key design decision: generic components that work with any model via route parameters. Add a new model's JSON data, and the entire dashboard — citations, geography, domains, uncertainty — generates automatically.</a:t>
            </a:r>
            <a:br/>
            <a:br/>
            <a:r>
              <a:t>JEME and JEOE share one codebase with context-aware navigation. The nav bar, logo, favicon, and even the browser tab title all switch dynamically.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Calibri"/>
              </a:defRPr>
            </a:pPr>
            <a:r>
              <a:t>Now for the surprise.</a:t>
            </a:r>
            <a:br/>
            <a:br/>
            <a:r>
              <a:t>Everything I've shown you — the citation pipeline, LLM classification, uncertainty quantification, network analysis — is a technology platform, not just a dashboard.</a:t>
            </a:r>
            <a:br/>
            <a:br/>
            <a:r>
              <a:t>To prove that, we took the same technology and applied it to a completely different problem: profiling the scientists themselves.</a:t>
            </a:r>
            <a:br/>
            <a:br/>
            <a:r>
              <a:t>JESP — JPL Earth Science Profiles — is the third piece of the trilogy. It connects the models, the missions, and the people.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Calibri"/>
              </a:defRPr>
            </a:pPr>
            <a:r>
              <a:t>JESP profiles every scientist in JPL's Earth Science Section.</a:t>
            </a:r>
            <a:br/>
            <a:br/>
            <a:r>
              <a:t>The pipeline should look familiar — it's the same pattern. Discover scientists from JPL's website, extract publications from OpenAlex and Semantic Scholar, classify expertise using Gemini, and quantify uncertainty with the same 3-phase Bayesian pipeline.</a:t>
            </a:r>
            <a:br/>
            <a:br/>
            <a:r>
              <a:t>199 scientists. Over 12,700 publications. More than a million citations. And a collaboration network showing 1,281 co-publication connections.</a:t>
            </a:r>
            <a:br/>
            <a:br/>
            <a:r>
              <a:t>The key takeaway: this took days to build, not months, because the platform was already there. That's the power of reusable technology.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Calibri"/>
              </a:defRPr>
            </a:pPr>
            <a:r>
              <a:t>Here's JESP in action.</a:t>
            </a:r>
            <a:br/>
            <a:br/>
            <a:r>
              <a:t>Left: the main dashboard. Search and filter scientists, see the research domain distribution as a pie chart, publication trends over time, and individual scientist cards with expertise tags.</a:t>
            </a:r>
            <a:br/>
            <a:br/>
            <a:r>
              <a:t>Right: the collaboration network. Every dot is a scientist, colored by research group. Lines connect scientists who share publications. You can filter by group, adjust the minimum co-publication threshold, and search for specific people.</a:t>
            </a:r>
            <a:br/>
            <a:br/>
            <a:r>
              <a:t>This is live right now at the URL shown. Try searching for your colleagues.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Calibri"/>
              </a:defRPr>
            </a:pPr>
            <a:r>
              <a:t>Looking ahead — and wrapping up.</a:t>
            </a:r>
            <a:br/>
            <a:br/>
            <a:r>
              <a:t>Next steps include LLM-enhanced MCL scoring, linking JESP scientist expertise to model capabilities, and cross-dashboard analytics that unify all three platforms.</a:t>
            </a:r>
            <a:br/>
            <a:br/>
            <a:r>
              <a:t>The key takeaways:</a:t>
            </a:r>
            <a:br/>
            <a:r>
              <a:t>- Three dashboards — JEME, JEOE, JESP — built on one shared technology platform.</a:t>
            </a:r>
            <a:br/>
            <a:r>
              <a:t>- Multi-agent verification with calibrated uncertainty on every data point.</a:t>
            </a:r>
            <a:br/>
            <a:r>
              <a:t>- MCL framework for systematic capability assessment.</a:t>
            </a:r>
            <a:br/>
            <a:r>
              <a:t>- JESP proves the platform is extensible — 199 scientists profiled in days.</a:t>
            </a:r>
            <a:br/>
            <a:r>
              <a:t>- Clear strategic gaps identified: ML/AI integration is the top priority.</a:t>
            </a:r>
            <a:br/>
            <a:br/>
            <a:r>
              <a:t>Thank you. I'm happy to take questions — or feel free to pull up any of the dashboards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N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21"/>
          <p:cNvSpPr>
            <a:spLocks noGrp="1"/>
          </p:cNvSpPr>
          <p:nvPr>
            <p:ph type="body" sz="quarter" idx="15" hasCustomPrompt="1"/>
          </p:nvPr>
        </p:nvSpPr>
        <p:spPr>
          <a:xfrm>
            <a:off x="925513" y="1956377"/>
            <a:ext cx="7483464" cy="294801"/>
          </a:xfrm>
        </p:spPr>
        <p:txBody>
          <a:bodyPr>
            <a:noAutofit/>
          </a:bodyPr>
          <a:lstStyle>
            <a:lvl1pPr marL="0" indent="0">
              <a:buNone/>
              <a:defRPr sz="1400" baseline="0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a Theme, Project or Mission Name (optional)</a:t>
            </a:r>
          </a:p>
        </p:txBody>
      </p:sp>
      <p:sp>
        <p:nvSpPr>
          <p:cNvPr id="24" name="Text Placeholder 21"/>
          <p:cNvSpPr>
            <a:spLocks noGrp="1"/>
          </p:cNvSpPr>
          <p:nvPr>
            <p:ph type="body" sz="quarter" idx="16" hasCustomPrompt="1"/>
          </p:nvPr>
        </p:nvSpPr>
        <p:spPr>
          <a:xfrm>
            <a:off x="915352" y="2251179"/>
            <a:ext cx="7493625" cy="419202"/>
          </a:xfrm>
        </p:spPr>
        <p:txBody>
          <a:bodyPr>
            <a:noAutofit/>
          </a:bodyPr>
          <a:lstStyle>
            <a:lvl1pPr marL="0" indent="0">
              <a:buNone/>
              <a:defRPr sz="2400" b="1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Presentation Title</a:t>
            </a:r>
          </a:p>
        </p:txBody>
      </p:sp>
      <p:sp>
        <p:nvSpPr>
          <p:cNvPr id="25" name="Text Placeholder 21"/>
          <p:cNvSpPr>
            <a:spLocks noGrp="1"/>
          </p:cNvSpPr>
          <p:nvPr>
            <p:ph type="body" sz="quarter" idx="17" hasCustomPrompt="1"/>
          </p:nvPr>
        </p:nvSpPr>
        <p:spPr>
          <a:xfrm>
            <a:off x="925512" y="2668678"/>
            <a:ext cx="7483465" cy="826362"/>
          </a:xfrm>
        </p:spPr>
        <p:txBody>
          <a:bodyPr>
            <a:noAutofit/>
          </a:bodyPr>
          <a:lstStyle>
            <a:lvl1pPr marL="0" indent="0">
              <a:buNone/>
              <a:defRPr sz="2000" b="0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a Presentation Subtitle</a:t>
            </a:r>
          </a:p>
        </p:txBody>
      </p:sp>
      <p:sp>
        <p:nvSpPr>
          <p:cNvPr id="26" name="Text Placeholder 21"/>
          <p:cNvSpPr>
            <a:spLocks noGrp="1"/>
          </p:cNvSpPr>
          <p:nvPr>
            <p:ph type="body" sz="quarter" idx="18" hasCustomPrompt="1"/>
          </p:nvPr>
        </p:nvSpPr>
        <p:spPr>
          <a:xfrm>
            <a:off x="915352" y="4246880"/>
            <a:ext cx="7493625" cy="497840"/>
          </a:xfrm>
        </p:spPr>
        <p:txBody>
          <a:bodyPr anchor="b">
            <a:noAutofit/>
          </a:bodyPr>
          <a:lstStyle>
            <a:lvl1pPr marL="0" indent="0">
              <a:buNone/>
              <a:defRPr sz="1000" b="0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Presented by, Job Title, Date, etc.</a:t>
            </a:r>
          </a:p>
        </p:txBody>
      </p:sp>
      <p:pic>
        <p:nvPicPr>
          <p:cNvPr id="8" name="Picture 7" descr="Tribrand_ColorBlack_rgb_16x3_16060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295" y="1184383"/>
            <a:ext cx="2925483" cy="812634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20"/>
          </p:nvPr>
        </p:nvSpPr>
        <p:spPr>
          <a:xfrm>
            <a:off x="915353" y="4802823"/>
            <a:ext cx="7493624" cy="274637"/>
          </a:xfrm>
        </p:spPr>
        <p:txBody>
          <a:bodyPr/>
          <a:lstStyle/>
          <a:p>
            <a:pPr algn="l"/>
            <a:r>
              <a:rPr lang="en-US"/>
              <a:t>For required markings, please visit https://mh.jpl.nasa.gov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5551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Sq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5687785" y="508000"/>
            <a:ext cx="3347357" cy="826391"/>
          </a:xfrm>
        </p:spPr>
        <p:txBody>
          <a:bodyPr anchor="b">
            <a:noAutofit/>
          </a:bodyPr>
          <a:lstStyle>
            <a:lvl1pPr marL="0" indent="0" algn="ctr">
              <a:buNone/>
              <a:defRPr sz="140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 sz="1400">
                <a:solidFill>
                  <a:schemeClr val="accent1"/>
                </a:solidFill>
              </a:defRPr>
            </a:lvl2pPr>
            <a:lvl3pPr marL="914400" indent="0" algn="ctr">
              <a:buNone/>
              <a:defRPr sz="1400">
                <a:solidFill>
                  <a:schemeClr val="accent1"/>
                </a:solidFill>
              </a:defRPr>
            </a:lvl3pPr>
            <a:lvl4pPr marL="1371600" indent="0" algn="ctr">
              <a:buNone/>
              <a:defRPr sz="1400">
                <a:solidFill>
                  <a:schemeClr val="accent1"/>
                </a:solidFill>
              </a:defRPr>
            </a:lvl4pPr>
            <a:lvl5pPr marL="1828800" indent="0" algn="ctr">
              <a:buNone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a Theme, Project or Mission Name (optional)</a:t>
            </a:r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1" hasCustomPrompt="1"/>
          </p:nvPr>
        </p:nvSpPr>
        <p:spPr>
          <a:xfrm>
            <a:off x="5687785" y="1354711"/>
            <a:ext cx="3347357" cy="728089"/>
          </a:xfrm>
        </p:spPr>
        <p:txBody>
          <a:bodyPr anchor="t">
            <a:noAutofit/>
          </a:bodyPr>
          <a:lstStyle>
            <a:lvl1pPr marL="0" indent="0" algn="ctr">
              <a:buNone/>
              <a:defRPr sz="2200" b="1" baseline="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1400">
                <a:solidFill>
                  <a:schemeClr val="accent1"/>
                </a:solidFill>
              </a:defRPr>
            </a:lvl2pPr>
            <a:lvl3pPr marL="914400" indent="0" algn="ctr">
              <a:buNone/>
              <a:defRPr sz="1400">
                <a:solidFill>
                  <a:schemeClr val="accent1"/>
                </a:solidFill>
              </a:defRPr>
            </a:lvl3pPr>
            <a:lvl4pPr marL="1371600" indent="0" algn="ctr">
              <a:buNone/>
              <a:defRPr sz="1400">
                <a:solidFill>
                  <a:schemeClr val="accent1"/>
                </a:solidFill>
              </a:defRPr>
            </a:lvl4pPr>
            <a:lvl5pPr marL="1828800" indent="0" algn="ctr">
              <a:buNone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Presentation Title</a:t>
            </a:r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546725" cy="5143500"/>
          </a:xfrm>
        </p:spPr>
        <p:txBody>
          <a:bodyPr anchor="ctr">
            <a:noAutofit/>
          </a:bodyPr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Tx/>
              <a:buFont typeface="Arial"/>
              <a:buNone/>
              <a:tabLst/>
              <a:defRPr sz="1400"/>
            </a:lvl1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26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5687785" y="2164080"/>
            <a:ext cx="3347357" cy="833120"/>
          </a:xfrm>
        </p:spPr>
        <p:txBody>
          <a:bodyPr anchor="t">
            <a:noAutofit/>
          </a:bodyPr>
          <a:lstStyle>
            <a:lvl1pPr marL="0" indent="0" algn="ctr">
              <a:buNone/>
              <a:defRPr sz="1000" baseline="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1400">
                <a:solidFill>
                  <a:schemeClr val="accent1"/>
                </a:solidFill>
              </a:defRPr>
            </a:lvl2pPr>
            <a:lvl3pPr marL="914400" indent="0" algn="ctr">
              <a:buNone/>
              <a:defRPr sz="1400">
                <a:solidFill>
                  <a:schemeClr val="accent1"/>
                </a:solidFill>
              </a:defRPr>
            </a:lvl3pPr>
            <a:lvl4pPr marL="1371600" indent="0" algn="ctr">
              <a:buNone/>
              <a:defRPr sz="1400">
                <a:solidFill>
                  <a:schemeClr val="accent1"/>
                </a:solidFill>
              </a:defRPr>
            </a:lvl4pPr>
            <a:lvl5pPr marL="1828800" indent="0" algn="ctr">
              <a:buNone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Presented by, Job Title, Date, etc.</a:t>
            </a:r>
          </a:p>
        </p:txBody>
      </p:sp>
      <p:pic>
        <p:nvPicPr>
          <p:cNvPr id="8" name="Picture 7" descr="Tribrand_ColorBlack_rgb_16x3_16060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0339" y="3918225"/>
            <a:ext cx="2925483" cy="812634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7"/>
          </p:nvPr>
        </p:nvSpPr>
        <p:spPr>
          <a:xfrm>
            <a:off x="5687785" y="4802823"/>
            <a:ext cx="3347357" cy="274637"/>
          </a:xfrm>
        </p:spPr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7911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Horz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8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3417503"/>
          </a:xfrm>
        </p:spPr>
        <p:txBody>
          <a:bodyPr anchor="ctr">
            <a:noAutofit/>
          </a:bodyPr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Tx/>
              <a:buFont typeface="Arial"/>
              <a:buNone/>
              <a:tabLst/>
              <a:defRPr sz="1400"/>
            </a:lvl1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369198" y="3773210"/>
            <a:ext cx="8530529" cy="430183"/>
          </a:xfrm>
        </p:spPr>
        <p:txBody>
          <a:bodyPr>
            <a:noAutofit/>
          </a:bodyPr>
          <a:lstStyle>
            <a:lvl1pPr marL="0" indent="0">
              <a:buNone/>
              <a:defRPr sz="2200" b="1">
                <a:latin typeface="+mj-lt"/>
              </a:defRPr>
            </a:lvl1pPr>
            <a:lvl2pPr marL="457200" indent="0">
              <a:buNone/>
              <a:defRPr sz="2200" b="1">
                <a:latin typeface="+mj-lt"/>
              </a:defRPr>
            </a:lvl2pPr>
            <a:lvl3pPr marL="914400" indent="0">
              <a:buNone/>
              <a:defRPr sz="2200" b="1">
                <a:latin typeface="+mj-lt"/>
              </a:defRPr>
            </a:lvl3pPr>
            <a:lvl4pPr marL="1371600" indent="0">
              <a:buNone/>
              <a:defRPr sz="2200" b="1">
                <a:latin typeface="+mj-lt"/>
              </a:defRPr>
            </a:lvl4pPr>
            <a:lvl5pPr marL="1828800" indent="0">
              <a:buNone/>
              <a:defRPr sz="2200" b="1">
                <a:latin typeface="+mj-lt"/>
              </a:defRPr>
            </a:lvl5pPr>
          </a:lstStyle>
          <a:p>
            <a:pPr lvl="0"/>
            <a:r>
              <a:rPr lang="en-US" dirty="0"/>
              <a:t>Click to Edit Presentation Title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7" hasCustomPrompt="1"/>
          </p:nvPr>
        </p:nvSpPr>
        <p:spPr>
          <a:xfrm>
            <a:off x="369198" y="4479716"/>
            <a:ext cx="5605047" cy="355600"/>
          </a:xfrm>
        </p:spPr>
        <p:txBody>
          <a:bodyPr anchor="b">
            <a:noAutofit/>
          </a:bodyPr>
          <a:lstStyle>
            <a:lvl1pPr marL="0" indent="0">
              <a:buNone/>
              <a:defRPr sz="1000" baseline="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dirty="0"/>
              <a:t>Presented by, Job Title, Date, etc.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9" hasCustomPrompt="1"/>
          </p:nvPr>
        </p:nvSpPr>
        <p:spPr>
          <a:xfrm>
            <a:off x="369197" y="3488175"/>
            <a:ext cx="8530530" cy="285035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400">
                <a:solidFill>
                  <a:schemeClr val="accent1"/>
                </a:solidFill>
              </a:defRPr>
            </a:lvl2pPr>
            <a:lvl3pPr marL="914400" indent="0">
              <a:buNone/>
              <a:defRPr sz="1400">
                <a:solidFill>
                  <a:schemeClr val="accent1"/>
                </a:solidFill>
              </a:defRPr>
            </a:lvl3pPr>
            <a:lvl4pPr marL="1371600" indent="0">
              <a:buNone/>
              <a:defRPr sz="1400">
                <a:solidFill>
                  <a:schemeClr val="accent1"/>
                </a:solidFill>
              </a:defRPr>
            </a:lvl4pPr>
            <a:lvl5pPr marL="1828800" indent="0">
              <a:buNone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a Theme, Project or Mission Name (optional)</a:t>
            </a:r>
          </a:p>
        </p:txBody>
      </p:sp>
      <p:pic>
        <p:nvPicPr>
          <p:cNvPr id="9" name="Picture 8" descr="Tribrand_ColorBlack_rgb_16x3_16060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4244" y="4219782"/>
            <a:ext cx="2925483" cy="812634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21"/>
          </p:nvPr>
        </p:nvSpPr>
        <p:spPr>
          <a:xfrm>
            <a:off x="369199" y="4802823"/>
            <a:ext cx="5605046" cy="274637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7911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254000" y="132080"/>
            <a:ext cx="8514080" cy="20597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8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9"/>
          </p:nvPr>
        </p:nvSpPr>
        <p:spPr>
          <a:xfrm>
            <a:off x="1412240" y="1602106"/>
            <a:ext cx="6319520" cy="271938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341DE1EE-7D9E-4356-A17B-AC39B24D4A0F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0E0E1749-0B7E-403A-A9A7-95F2ED1F28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292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254000" y="132080"/>
            <a:ext cx="8514080" cy="20597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8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E0EE1217-8810-43A4-A260-F7B93C1E2460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0E0E1749-0B7E-403A-A9A7-95F2ED1F28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3170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254000" y="132080"/>
            <a:ext cx="8514080" cy="20597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8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sz="quarter" idx="19"/>
          </p:nvPr>
        </p:nvSpPr>
        <p:spPr>
          <a:xfrm>
            <a:off x="1412240" y="1602106"/>
            <a:ext cx="6319520" cy="271938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81BC07D9-38D2-4D21-BB9F-4FB482252065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0E0E1749-0B7E-403A-A9A7-95F2ED1F28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31706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254000" y="132080"/>
            <a:ext cx="8514080" cy="20597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8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16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254000" y="757179"/>
            <a:ext cx="8514080" cy="350262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000" baseline="0">
                <a:solidFill>
                  <a:srgbClr val="000000"/>
                </a:solidFill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37A7201D-60A7-477E-96B4-3973BB7451F7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0E0E1749-0B7E-403A-A9A7-95F2ED1F28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8767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254000" y="132080"/>
            <a:ext cx="8514080" cy="20597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8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254000" y="757179"/>
            <a:ext cx="8514080" cy="350262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000" baseline="0">
                <a:solidFill>
                  <a:srgbClr val="000000"/>
                </a:solidFill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sz="quarter" idx="19"/>
          </p:nvPr>
        </p:nvSpPr>
        <p:spPr>
          <a:xfrm>
            <a:off x="1412240" y="1602106"/>
            <a:ext cx="6319520" cy="271938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DF441585-8FA9-4EA2-85A4-83043578477A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0E0E1749-0B7E-403A-A9A7-95F2ED1F28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9395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254000" y="132080"/>
            <a:ext cx="8514080" cy="20597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8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254000" y="757179"/>
            <a:ext cx="8514080" cy="350262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000" baseline="0">
                <a:solidFill>
                  <a:srgbClr val="000000"/>
                </a:solidFill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sz="quarter" idx="19"/>
          </p:nvPr>
        </p:nvSpPr>
        <p:spPr>
          <a:xfrm>
            <a:off x="254000" y="1598613"/>
            <a:ext cx="4216400" cy="27193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11"/>
          <p:cNvSpPr>
            <a:spLocks noGrp="1"/>
          </p:cNvSpPr>
          <p:nvPr>
            <p:ph sz="quarter" idx="20"/>
          </p:nvPr>
        </p:nvSpPr>
        <p:spPr>
          <a:xfrm>
            <a:off x="4675164" y="1598612"/>
            <a:ext cx="4216400" cy="271938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83F1A4B9-1F13-48F5-BF93-72CC0A0DFA2C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0E0E1749-0B7E-403A-A9A7-95F2ED1F28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2275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254000" y="132080"/>
            <a:ext cx="8514080" cy="20597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8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254000" y="757179"/>
            <a:ext cx="8514080" cy="350262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000" baseline="0">
                <a:solidFill>
                  <a:srgbClr val="000000"/>
                </a:solidFill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sz="quarter" idx="19"/>
          </p:nvPr>
        </p:nvSpPr>
        <p:spPr>
          <a:xfrm>
            <a:off x="254000" y="2137092"/>
            <a:ext cx="4216400" cy="238410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11"/>
          <p:cNvSpPr>
            <a:spLocks noGrp="1"/>
          </p:cNvSpPr>
          <p:nvPr>
            <p:ph sz="quarter" idx="20"/>
          </p:nvPr>
        </p:nvSpPr>
        <p:spPr>
          <a:xfrm>
            <a:off x="4675164" y="2137092"/>
            <a:ext cx="4216400" cy="238410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254000" y="1497330"/>
            <a:ext cx="4216400" cy="639762"/>
          </a:xfr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75164" y="1497330"/>
            <a:ext cx="4216400" cy="639762"/>
          </a:xfr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Box 16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1D4C51F1-096E-4A7D-AF59-49489967A51A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0E0E1749-0B7E-403A-A9A7-95F2ED1F28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57004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254000" y="132080"/>
            <a:ext cx="8514080" cy="20597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8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254000" y="757179"/>
            <a:ext cx="8514080" cy="350262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000" baseline="0">
                <a:solidFill>
                  <a:srgbClr val="000000"/>
                </a:solidFill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1" name="Content Placeholder 2"/>
          <p:cNvSpPr>
            <a:spLocks noGrp="1"/>
          </p:cNvSpPr>
          <p:nvPr>
            <p:ph sz="quarter" idx="19"/>
          </p:nvPr>
        </p:nvSpPr>
        <p:spPr>
          <a:xfrm>
            <a:off x="254000" y="2137092"/>
            <a:ext cx="3211513" cy="238410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2"/>
          <p:cNvSpPr>
            <a:spLocks noGrp="1"/>
          </p:cNvSpPr>
          <p:nvPr>
            <p:ph type="body" idx="24" hasCustomPrompt="1"/>
          </p:nvPr>
        </p:nvSpPr>
        <p:spPr>
          <a:xfrm>
            <a:off x="254000" y="1497330"/>
            <a:ext cx="3211513" cy="639762"/>
          </a:xfrm>
        </p:spPr>
        <p:txBody>
          <a:bodyPr anchor="b">
            <a:noAutofit/>
          </a:bodyPr>
          <a:lstStyle>
            <a:lvl1pPr marL="0" indent="0">
              <a:buFont typeface="Arial"/>
              <a:buNone/>
              <a:defRPr sz="1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3" name="Content Placeholder 11"/>
          <p:cNvSpPr>
            <a:spLocks noGrp="1"/>
          </p:cNvSpPr>
          <p:nvPr>
            <p:ph sz="quarter" idx="20"/>
          </p:nvPr>
        </p:nvSpPr>
        <p:spPr>
          <a:xfrm>
            <a:off x="3638844" y="1497329"/>
            <a:ext cx="5129236" cy="302386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8D18AFA9-C13B-4E9A-A7F0-C8B20BE5ADB5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0E0E1749-0B7E-403A-A9A7-95F2ED1F28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658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254000" y="132080"/>
            <a:ext cx="8514080" cy="20597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8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254000" y="757179"/>
            <a:ext cx="8514080" cy="350262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000" baseline="0">
                <a:solidFill>
                  <a:srgbClr val="000000"/>
                </a:solidFill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3" name="Picture Placeholder 2"/>
          <p:cNvSpPr>
            <a:spLocks noGrp="1"/>
          </p:cNvSpPr>
          <p:nvPr>
            <p:ph type="pic" idx="1"/>
          </p:nvPr>
        </p:nvSpPr>
        <p:spPr>
          <a:xfrm>
            <a:off x="254000" y="1497330"/>
            <a:ext cx="5129236" cy="302386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4" name="Content Placeholder 2"/>
          <p:cNvSpPr>
            <a:spLocks noGrp="1"/>
          </p:cNvSpPr>
          <p:nvPr>
            <p:ph sz="quarter" idx="19"/>
          </p:nvPr>
        </p:nvSpPr>
        <p:spPr>
          <a:xfrm>
            <a:off x="5556567" y="2137092"/>
            <a:ext cx="3211513" cy="238410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2"/>
          <p:cNvSpPr>
            <a:spLocks noGrp="1"/>
          </p:cNvSpPr>
          <p:nvPr>
            <p:ph type="body" idx="24" hasCustomPrompt="1"/>
          </p:nvPr>
        </p:nvSpPr>
        <p:spPr>
          <a:xfrm>
            <a:off x="5556567" y="1497330"/>
            <a:ext cx="3211513" cy="639762"/>
          </a:xfrm>
        </p:spPr>
        <p:txBody>
          <a:bodyPr anchor="b">
            <a:noAutofit/>
          </a:bodyPr>
          <a:lstStyle>
            <a:lvl1pPr marL="0" indent="0">
              <a:buFont typeface="Arial"/>
              <a:buNone/>
              <a:defRPr sz="1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7" name="TextBox 16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6AFA6CE4-1B8F-4F53-8FC9-315CD27786F8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0E0E1749-0B7E-403A-A9A7-95F2ED1F28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311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Black Stri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 userDrawn="1"/>
        </p:nvSpPr>
        <p:spPr>
          <a:xfrm>
            <a:off x="0" y="1161143"/>
            <a:ext cx="9144000" cy="3558493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254000" y="132080"/>
            <a:ext cx="8514080" cy="20597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8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16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254000" y="757179"/>
            <a:ext cx="8514080" cy="350262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000" baseline="0">
                <a:solidFill>
                  <a:srgbClr val="000000"/>
                </a:solidFill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DC96F477-1573-42B6-8124-1C5E2CCC0FDA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0E0E1749-0B7E-403A-A9A7-95F2ED1F28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04554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Light Stri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 userDrawn="1"/>
        </p:nvSpPr>
        <p:spPr>
          <a:xfrm>
            <a:off x="0" y="1161143"/>
            <a:ext cx="9144000" cy="355849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254000" y="132080"/>
            <a:ext cx="8514080" cy="20597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8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254000" y="757179"/>
            <a:ext cx="8514080" cy="350262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000" baseline="0">
                <a:solidFill>
                  <a:srgbClr val="000000"/>
                </a:solidFill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69160BD7-9A24-46F0-B588-84A24FB50E43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0E0E1749-0B7E-403A-A9A7-95F2ED1F28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38324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60C67-0F6D-4A63-8E63-273C3D00EFA0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E1749-0B7E-403A-A9A7-95F2ED1F28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71939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467360" y="1839278"/>
            <a:ext cx="8229600" cy="1462722"/>
          </a:xfrm>
        </p:spPr>
        <p:txBody>
          <a:bodyPr anchor="ctr">
            <a:noAutofit/>
          </a:bodyPr>
          <a:lstStyle>
            <a:lvl1pPr marL="0" indent="0" algn="ctr">
              <a:buNone/>
              <a:defRPr sz="3600" baseline="0"/>
            </a:lvl1pPr>
          </a:lstStyle>
          <a:p>
            <a:pPr lvl="0"/>
            <a:r>
              <a:rPr lang="en-US" dirty="0"/>
              <a:t>Click to add section header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D7FBDF3-D11F-4F70-8F9F-651D17F84E13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E0E1749-0B7E-403A-A9A7-95F2ED1F28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21171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_Gray"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467360" y="1839278"/>
            <a:ext cx="8229600" cy="1462722"/>
          </a:xfrm>
        </p:spPr>
        <p:txBody>
          <a:bodyPr anchor="ctr">
            <a:noAutofit/>
          </a:bodyPr>
          <a:lstStyle>
            <a:lvl1pPr marL="0" indent="0" algn="ctr">
              <a:buNone/>
              <a:defRPr sz="36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section header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18357F6-0510-479E-9626-ED401C3312BA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E0E1749-0B7E-403A-A9A7-95F2ED1F28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36902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A867B-514B-4F27-82D6-3C76A0181DB0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E1749-0B7E-403A-A9A7-95F2ED1F28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87249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>
            <a:off x="2538518" y="2571750"/>
            <a:ext cx="4057288" cy="0"/>
          </a:xfrm>
          <a:prstGeom prst="line">
            <a:avLst/>
          </a:prstGeom>
          <a:ln w="6350" cmpd="sng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 userDrawn="1"/>
        </p:nvSpPr>
        <p:spPr>
          <a:xfrm>
            <a:off x="1" y="2790066"/>
            <a:ext cx="9144000" cy="40015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2000" kern="0" spc="70" dirty="0">
                <a:solidFill>
                  <a:schemeClr val="accent1"/>
                </a:solidFill>
              </a:rPr>
              <a:t>jpl.nasa.gov</a:t>
            </a:r>
          </a:p>
        </p:txBody>
      </p:sp>
      <p:pic>
        <p:nvPicPr>
          <p:cNvPr id="6" name="Picture 5" descr="Tribrand_ColorBlack_rgb_16x3_16060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518" y="1381408"/>
            <a:ext cx="4057288" cy="112702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6A7BB-C868-4082-9DAC-3FE8412AC8FD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E1749-0B7E-403A-A9A7-95F2ED1F28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20531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ribrand_ColorBlack_rgb_16x3_16060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3356" y="2008238"/>
            <a:ext cx="4057288" cy="112702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A090E-3817-4555-91F3-FAFE914C4AAA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E1749-0B7E-403A-A9A7-95F2ED1F28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79670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N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21"/>
          <p:cNvSpPr>
            <a:spLocks noGrp="1"/>
          </p:cNvSpPr>
          <p:nvPr>
            <p:ph type="body" sz="quarter" idx="15" hasCustomPrompt="1"/>
          </p:nvPr>
        </p:nvSpPr>
        <p:spPr>
          <a:xfrm>
            <a:off x="925513" y="1956377"/>
            <a:ext cx="7483464" cy="294801"/>
          </a:xfrm>
        </p:spPr>
        <p:txBody>
          <a:bodyPr>
            <a:noAutofit/>
          </a:bodyPr>
          <a:lstStyle>
            <a:lvl1pPr marL="0" indent="0">
              <a:buNone/>
              <a:defRPr sz="1400" baseline="0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a Theme, Project or Mission Name (optional)</a:t>
            </a:r>
          </a:p>
        </p:txBody>
      </p:sp>
      <p:sp>
        <p:nvSpPr>
          <p:cNvPr id="24" name="Text Placeholder 21"/>
          <p:cNvSpPr>
            <a:spLocks noGrp="1"/>
          </p:cNvSpPr>
          <p:nvPr>
            <p:ph type="body" sz="quarter" idx="16" hasCustomPrompt="1"/>
          </p:nvPr>
        </p:nvSpPr>
        <p:spPr>
          <a:xfrm>
            <a:off x="915352" y="2251179"/>
            <a:ext cx="7493625" cy="419202"/>
          </a:xfrm>
        </p:spPr>
        <p:txBody>
          <a:bodyPr>
            <a:noAutofit/>
          </a:bodyPr>
          <a:lstStyle>
            <a:lvl1pPr marL="0" indent="0">
              <a:buNone/>
              <a:defRPr sz="2400" b="1" baseline="0">
                <a:solidFill>
                  <a:srgbClr val="FFFFFF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Presentation Title</a:t>
            </a:r>
          </a:p>
        </p:txBody>
      </p:sp>
      <p:sp>
        <p:nvSpPr>
          <p:cNvPr id="25" name="Text Placeholder 21"/>
          <p:cNvSpPr>
            <a:spLocks noGrp="1"/>
          </p:cNvSpPr>
          <p:nvPr>
            <p:ph type="body" sz="quarter" idx="17" hasCustomPrompt="1"/>
          </p:nvPr>
        </p:nvSpPr>
        <p:spPr>
          <a:xfrm>
            <a:off x="925512" y="2668678"/>
            <a:ext cx="7483465" cy="826362"/>
          </a:xfrm>
        </p:spPr>
        <p:txBody>
          <a:bodyPr>
            <a:noAutofit/>
          </a:bodyPr>
          <a:lstStyle>
            <a:lvl1pPr marL="0" indent="0">
              <a:buNone/>
              <a:defRPr sz="2000" b="0" baseline="0">
                <a:solidFill>
                  <a:srgbClr val="FFFFFF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a Presentation Subtitle</a:t>
            </a:r>
          </a:p>
        </p:txBody>
      </p:sp>
      <p:sp>
        <p:nvSpPr>
          <p:cNvPr id="26" name="Text Placeholder 21"/>
          <p:cNvSpPr>
            <a:spLocks noGrp="1"/>
          </p:cNvSpPr>
          <p:nvPr>
            <p:ph type="body" sz="quarter" idx="18" hasCustomPrompt="1"/>
          </p:nvPr>
        </p:nvSpPr>
        <p:spPr>
          <a:xfrm>
            <a:off x="915352" y="4246880"/>
            <a:ext cx="7493625" cy="497840"/>
          </a:xfrm>
        </p:spPr>
        <p:txBody>
          <a:bodyPr anchor="b">
            <a:noAutofit/>
          </a:bodyPr>
          <a:lstStyle>
            <a:lvl1pPr marL="0" indent="0">
              <a:buNone/>
              <a:defRPr sz="1000" b="0" baseline="0">
                <a:solidFill>
                  <a:srgbClr val="FFFFFF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Presented by, Job Title, Date, etc.</a:t>
            </a:r>
          </a:p>
        </p:txBody>
      </p:sp>
      <p:pic>
        <p:nvPicPr>
          <p:cNvPr id="8" name="Picture 7" descr="Tribrand_ColorWhite_rgb_16x3_16060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239" y="1184382"/>
            <a:ext cx="2913350" cy="809264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20"/>
          </p:nvPr>
        </p:nvSpPr>
        <p:spPr>
          <a:xfrm>
            <a:off x="915351" y="4802823"/>
            <a:ext cx="7493625" cy="274637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095516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Sq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5687785" y="508000"/>
            <a:ext cx="3347357" cy="826391"/>
          </a:xfrm>
        </p:spPr>
        <p:txBody>
          <a:bodyPr anchor="b">
            <a:noAutofit/>
          </a:bodyPr>
          <a:lstStyle>
            <a:lvl1pPr marL="0" indent="0" algn="ctr">
              <a:buNone/>
              <a:defRPr sz="140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 sz="1400">
                <a:solidFill>
                  <a:schemeClr val="accent1"/>
                </a:solidFill>
              </a:defRPr>
            </a:lvl2pPr>
            <a:lvl3pPr marL="914400" indent="0" algn="ctr">
              <a:buNone/>
              <a:defRPr sz="1400">
                <a:solidFill>
                  <a:schemeClr val="accent1"/>
                </a:solidFill>
              </a:defRPr>
            </a:lvl3pPr>
            <a:lvl4pPr marL="1371600" indent="0" algn="ctr">
              <a:buNone/>
              <a:defRPr sz="1400">
                <a:solidFill>
                  <a:schemeClr val="accent1"/>
                </a:solidFill>
              </a:defRPr>
            </a:lvl4pPr>
            <a:lvl5pPr marL="1828800" indent="0" algn="ctr">
              <a:buNone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a Theme, Project or Mission Name (optional)</a:t>
            </a:r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1" hasCustomPrompt="1"/>
          </p:nvPr>
        </p:nvSpPr>
        <p:spPr>
          <a:xfrm>
            <a:off x="5687785" y="1354711"/>
            <a:ext cx="3347357" cy="728089"/>
          </a:xfrm>
        </p:spPr>
        <p:txBody>
          <a:bodyPr anchor="t">
            <a:noAutofit/>
          </a:bodyPr>
          <a:lstStyle>
            <a:lvl1pPr marL="0" indent="0" algn="ctr">
              <a:buNone/>
              <a:defRPr sz="2200" b="1" baseline="0">
                <a:solidFill>
                  <a:srgbClr val="FFFFFF"/>
                </a:solidFill>
                <a:latin typeface="+mj-lt"/>
              </a:defRPr>
            </a:lvl1pPr>
            <a:lvl2pPr marL="457200" indent="0" algn="ctr">
              <a:buNone/>
              <a:defRPr sz="1400">
                <a:solidFill>
                  <a:schemeClr val="accent1"/>
                </a:solidFill>
              </a:defRPr>
            </a:lvl2pPr>
            <a:lvl3pPr marL="914400" indent="0" algn="ctr">
              <a:buNone/>
              <a:defRPr sz="1400">
                <a:solidFill>
                  <a:schemeClr val="accent1"/>
                </a:solidFill>
              </a:defRPr>
            </a:lvl3pPr>
            <a:lvl4pPr marL="1371600" indent="0" algn="ctr">
              <a:buNone/>
              <a:defRPr sz="1400">
                <a:solidFill>
                  <a:schemeClr val="accent1"/>
                </a:solidFill>
              </a:defRPr>
            </a:lvl4pPr>
            <a:lvl5pPr marL="1828800" indent="0" algn="ctr">
              <a:buNone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Presentation Title</a:t>
            </a:r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546725" cy="5143500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26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5687785" y="2164080"/>
            <a:ext cx="3347357" cy="833120"/>
          </a:xfrm>
        </p:spPr>
        <p:txBody>
          <a:bodyPr anchor="t">
            <a:noAutofit/>
          </a:bodyPr>
          <a:lstStyle>
            <a:lvl1pPr marL="0" indent="0" algn="ctr">
              <a:buNone/>
              <a:defRPr sz="1000" baseline="0">
                <a:solidFill>
                  <a:srgbClr val="FFFFFF"/>
                </a:solidFill>
                <a:latin typeface="+mj-lt"/>
              </a:defRPr>
            </a:lvl1pPr>
            <a:lvl2pPr marL="457200" indent="0" algn="ctr">
              <a:buNone/>
              <a:defRPr sz="1400">
                <a:solidFill>
                  <a:schemeClr val="accent1"/>
                </a:solidFill>
              </a:defRPr>
            </a:lvl2pPr>
            <a:lvl3pPr marL="914400" indent="0" algn="ctr">
              <a:buNone/>
              <a:defRPr sz="1400">
                <a:solidFill>
                  <a:schemeClr val="accent1"/>
                </a:solidFill>
              </a:defRPr>
            </a:lvl3pPr>
            <a:lvl4pPr marL="1371600" indent="0" algn="ctr">
              <a:buNone/>
              <a:defRPr sz="1400">
                <a:solidFill>
                  <a:schemeClr val="accent1"/>
                </a:solidFill>
              </a:defRPr>
            </a:lvl4pPr>
            <a:lvl5pPr marL="1828800" indent="0" algn="ctr">
              <a:buNone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Presented by, Job Title, Date, etc.</a:t>
            </a:r>
          </a:p>
        </p:txBody>
      </p:sp>
      <p:pic>
        <p:nvPicPr>
          <p:cNvPr id="8" name="Picture 7" descr="Tribrand_ColorWhite_rgb_16x3_16060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8534" y="3921596"/>
            <a:ext cx="2913350" cy="809264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7"/>
          </p:nvPr>
        </p:nvSpPr>
        <p:spPr>
          <a:xfrm>
            <a:off x="5687784" y="4802823"/>
            <a:ext cx="3347357" cy="274637"/>
          </a:xfrm>
        </p:spPr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27032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Horz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8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3417503"/>
          </a:xfrm>
        </p:spPr>
        <p:txBody>
          <a:bodyPr anchor="ctr">
            <a:noAutofit/>
          </a:bodyPr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Tx/>
              <a:buFont typeface="Arial"/>
              <a:buNone/>
              <a:tabLst/>
              <a:defRPr sz="1400"/>
            </a:lvl1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369198" y="3773210"/>
            <a:ext cx="7139042" cy="430183"/>
          </a:xfrm>
        </p:spPr>
        <p:txBody>
          <a:bodyPr>
            <a:noAutofit/>
          </a:bodyPr>
          <a:lstStyle>
            <a:lvl1pPr marL="0" indent="0">
              <a:buNone/>
              <a:defRPr sz="2200" b="1">
                <a:latin typeface="+mj-lt"/>
              </a:defRPr>
            </a:lvl1pPr>
            <a:lvl2pPr marL="457200" indent="0">
              <a:buNone/>
              <a:defRPr sz="2200" b="1">
                <a:latin typeface="+mj-lt"/>
              </a:defRPr>
            </a:lvl2pPr>
            <a:lvl3pPr marL="914400" indent="0">
              <a:buNone/>
              <a:defRPr sz="2200" b="1">
                <a:latin typeface="+mj-lt"/>
              </a:defRPr>
            </a:lvl3pPr>
            <a:lvl4pPr marL="1371600" indent="0">
              <a:buNone/>
              <a:defRPr sz="2200" b="1">
                <a:latin typeface="+mj-lt"/>
              </a:defRPr>
            </a:lvl4pPr>
            <a:lvl5pPr marL="1828800" indent="0">
              <a:buNone/>
              <a:defRPr sz="2200" b="1">
                <a:latin typeface="+mj-lt"/>
              </a:defRPr>
            </a:lvl5pPr>
          </a:lstStyle>
          <a:p>
            <a:pPr lvl="0"/>
            <a:r>
              <a:rPr lang="en-US" dirty="0"/>
              <a:t>Click to Edit Presentation Title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7" hasCustomPrompt="1"/>
          </p:nvPr>
        </p:nvSpPr>
        <p:spPr>
          <a:xfrm>
            <a:off x="369198" y="4479716"/>
            <a:ext cx="5605049" cy="355600"/>
          </a:xfrm>
        </p:spPr>
        <p:txBody>
          <a:bodyPr anchor="b">
            <a:noAutofit/>
          </a:bodyPr>
          <a:lstStyle>
            <a:lvl1pPr marL="0" indent="0">
              <a:buNone/>
              <a:defRPr sz="1000" baseline="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dirty="0"/>
              <a:t>Presented by, Job Title, Date, etc.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9" hasCustomPrompt="1"/>
          </p:nvPr>
        </p:nvSpPr>
        <p:spPr>
          <a:xfrm>
            <a:off x="369196" y="3488175"/>
            <a:ext cx="7139043" cy="285035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400">
                <a:solidFill>
                  <a:schemeClr val="accent1"/>
                </a:solidFill>
              </a:defRPr>
            </a:lvl2pPr>
            <a:lvl3pPr marL="914400" indent="0">
              <a:buNone/>
              <a:defRPr sz="1400">
                <a:solidFill>
                  <a:schemeClr val="accent1"/>
                </a:solidFill>
              </a:defRPr>
            </a:lvl3pPr>
            <a:lvl4pPr marL="1371600" indent="0">
              <a:buNone/>
              <a:defRPr sz="1400">
                <a:solidFill>
                  <a:schemeClr val="accent1"/>
                </a:solidFill>
              </a:defRPr>
            </a:lvl4pPr>
            <a:lvl5pPr marL="1828800" indent="0">
              <a:buNone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a Theme, Project or Mission Name (optional)</a:t>
            </a:r>
          </a:p>
        </p:txBody>
      </p:sp>
      <p:pic>
        <p:nvPicPr>
          <p:cNvPr id="9" name="Picture 8" descr="Tribrand_ColorWhite_rgb_16x3_16060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4246" y="4219781"/>
            <a:ext cx="2913350" cy="809264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21"/>
          </p:nvPr>
        </p:nvSpPr>
        <p:spPr>
          <a:xfrm>
            <a:off x="369198" y="4802823"/>
            <a:ext cx="5605049" cy="274637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029216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254000" y="132080"/>
            <a:ext cx="8514080" cy="20597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8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9"/>
          </p:nvPr>
        </p:nvSpPr>
        <p:spPr>
          <a:xfrm>
            <a:off x="1412240" y="1602106"/>
            <a:ext cx="6319520" cy="271938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8C27A7D9-79A5-4F31-811A-2700B483370C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8C68ADBD-3616-4318-B5FF-7C1BB362CA5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</p:spTree>
    <p:extLst>
      <p:ext uri="{BB962C8B-B14F-4D97-AF65-F5344CB8AC3E}">
        <p14:creationId xmlns:p14="http://schemas.microsoft.com/office/powerpoint/2010/main" val="39153239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254000" y="132080"/>
            <a:ext cx="8514080" cy="20597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8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4DFFDBDF-FD53-4339-9B2B-8D4083A87E6A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275C533D-D968-4A70-91E2-44C7FEDAA0E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</p:spTree>
    <p:extLst>
      <p:ext uri="{BB962C8B-B14F-4D97-AF65-F5344CB8AC3E}">
        <p14:creationId xmlns:p14="http://schemas.microsoft.com/office/powerpoint/2010/main" val="41678743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254000" y="132080"/>
            <a:ext cx="8514080" cy="20597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8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sz="quarter" idx="19"/>
          </p:nvPr>
        </p:nvSpPr>
        <p:spPr>
          <a:xfrm>
            <a:off x="1412240" y="1602106"/>
            <a:ext cx="6319520" cy="271938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FF51E6BA-1B59-444E-9924-1C6BFE86556B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F9DDD08E-B43C-483A-B1DD-9BEB0BDDDDA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</p:spTree>
    <p:extLst>
      <p:ext uri="{BB962C8B-B14F-4D97-AF65-F5344CB8AC3E}">
        <p14:creationId xmlns:p14="http://schemas.microsoft.com/office/powerpoint/2010/main" val="243165845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254000" y="132080"/>
            <a:ext cx="8514080" cy="20597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8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16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254000" y="757179"/>
            <a:ext cx="8514080" cy="350262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000" baseline="0">
                <a:solidFill>
                  <a:srgbClr val="FFFFFF"/>
                </a:solidFill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EAEFA50C-A13C-4DCE-AFB3-2B7442276FB3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C20F9084-C4B8-47CC-A340-731237DBDB5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</p:spTree>
    <p:extLst>
      <p:ext uri="{BB962C8B-B14F-4D97-AF65-F5344CB8AC3E}">
        <p14:creationId xmlns:p14="http://schemas.microsoft.com/office/powerpoint/2010/main" val="23595735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254000" y="132080"/>
            <a:ext cx="8514080" cy="20597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8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254000" y="757179"/>
            <a:ext cx="8514080" cy="350262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000" baseline="0">
                <a:solidFill>
                  <a:srgbClr val="FFFFFF"/>
                </a:solidFill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sz="quarter" idx="19"/>
          </p:nvPr>
        </p:nvSpPr>
        <p:spPr>
          <a:xfrm>
            <a:off x="1412240" y="1602106"/>
            <a:ext cx="6319520" cy="271938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BA287370-5FF0-4902-B346-9505C44AD782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D53CE28F-B0E6-4C63-A7B8-EB4157A0706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</p:spTree>
    <p:extLst>
      <p:ext uri="{BB962C8B-B14F-4D97-AF65-F5344CB8AC3E}">
        <p14:creationId xmlns:p14="http://schemas.microsoft.com/office/powerpoint/2010/main" val="229958135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254000" y="132080"/>
            <a:ext cx="8514080" cy="20597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8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254000" y="757179"/>
            <a:ext cx="8514080" cy="350262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000" baseline="0">
                <a:solidFill>
                  <a:srgbClr val="FFFFFF"/>
                </a:solidFill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sz="quarter" idx="19"/>
          </p:nvPr>
        </p:nvSpPr>
        <p:spPr>
          <a:xfrm>
            <a:off x="254000" y="1598613"/>
            <a:ext cx="4216400" cy="27193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11"/>
          <p:cNvSpPr>
            <a:spLocks noGrp="1"/>
          </p:cNvSpPr>
          <p:nvPr>
            <p:ph sz="quarter" idx="20"/>
          </p:nvPr>
        </p:nvSpPr>
        <p:spPr>
          <a:xfrm>
            <a:off x="4675164" y="1598612"/>
            <a:ext cx="4216400" cy="271938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8813C2AF-4676-455E-83CB-EFCE637AA527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D81F743-FBF4-4AAB-BF1E-09D0097B96F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</p:spTree>
    <p:extLst>
      <p:ext uri="{BB962C8B-B14F-4D97-AF65-F5344CB8AC3E}">
        <p14:creationId xmlns:p14="http://schemas.microsoft.com/office/powerpoint/2010/main" val="76019948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254000" y="132080"/>
            <a:ext cx="8514080" cy="20597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8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254000" y="757179"/>
            <a:ext cx="8514080" cy="350262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000" baseline="0">
                <a:solidFill>
                  <a:srgbClr val="FFFFFF"/>
                </a:solidFill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sz="quarter" idx="19"/>
          </p:nvPr>
        </p:nvSpPr>
        <p:spPr>
          <a:xfrm>
            <a:off x="254000" y="2137092"/>
            <a:ext cx="4216400" cy="238410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11"/>
          <p:cNvSpPr>
            <a:spLocks noGrp="1"/>
          </p:cNvSpPr>
          <p:nvPr>
            <p:ph sz="quarter" idx="20"/>
          </p:nvPr>
        </p:nvSpPr>
        <p:spPr>
          <a:xfrm>
            <a:off x="4675164" y="2137092"/>
            <a:ext cx="4216400" cy="238410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254000" y="1497330"/>
            <a:ext cx="4216400" cy="639762"/>
          </a:xfr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75164" y="1497330"/>
            <a:ext cx="4216400" cy="639762"/>
          </a:xfr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22AB4888-AE87-452C-ACA0-2DD465CE82D2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16356448-7EEE-4D0D-AE32-557A239281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</p:spTree>
    <p:extLst>
      <p:ext uri="{BB962C8B-B14F-4D97-AF65-F5344CB8AC3E}">
        <p14:creationId xmlns:p14="http://schemas.microsoft.com/office/powerpoint/2010/main" val="68821459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254000" y="132080"/>
            <a:ext cx="8514080" cy="20597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8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254000" y="757179"/>
            <a:ext cx="8514080" cy="350262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000" baseline="0">
                <a:solidFill>
                  <a:srgbClr val="FFFFFF"/>
                </a:solidFill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1" name="Content Placeholder 2"/>
          <p:cNvSpPr>
            <a:spLocks noGrp="1"/>
          </p:cNvSpPr>
          <p:nvPr>
            <p:ph sz="quarter" idx="19"/>
          </p:nvPr>
        </p:nvSpPr>
        <p:spPr>
          <a:xfrm>
            <a:off x="254000" y="2137092"/>
            <a:ext cx="3211513" cy="238410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2"/>
          <p:cNvSpPr>
            <a:spLocks noGrp="1"/>
          </p:cNvSpPr>
          <p:nvPr>
            <p:ph type="body" idx="24" hasCustomPrompt="1"/>
          </p:nvPr>
        </p:nvSpPr>
        <p:spPr>
          <a:xfrm>
            <a:off x="254000" y="1497330"/>
            <a:ext cx="3211513" cy="639762"/>
          </a:xfrm>
        </p:spPr>
        <p:txBody>
          <a:bodyPr anchor="b">
            <a:noAutofit/>
          </a:bodyPr>
          <a:lstStyle>
            <a:lvl1pPr marL="0" indent="0">
              <a:buFont typeface="Arial"/>
              <a:buNone/>
              <a:defRPr sz="1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3" name="Content Placeholder 11"/>
          <p:cNvSpPr>
            <a:spLocks noGrp="1"/>
          </p:cNvSpPr>
          <p:nvPr>
            <p:ph sz="quarter" idx="20"/>
          </p:nvPr>
        </p:nvSpPr>
        <p:spPr>
          <a:xfrm>
            <a:off x="3638844" y="1497329"/>
            <a:ext cx="5129236" cy="302386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A9C12B0F-F129-4DB1-8648-A5DD68566654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0A79206F-C929-453C-B7BF-19A540401EF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</p:spTree>
    <p:extLst>
      <p:ext uri="{BB962C8B-B14F-4D97-AF65-F5344CB8AC3E}">
        <p14:creationId xmlns:p14="http://schemas.microsoft.com/office/powerpoint/2010/main" val="59312417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254000" y="132080"/>
            <a:ext cx="8514080" cy="20597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8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254000" y="757179"/>
            <a:ext cx="8514080" cy="350262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000" baseline="0">
                <a:solidFill>
                  <a:srgbClr val="FFFFFF"/>
                </a:solidFill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3" name="Picture Placeholder 2"/>
          <p:cNvSpPr>
            <a:spLocks noGrp="1"/>
          </p:cNvSpPr>
          <p:nvPr>
            <p:ph type="pic" idx="1"/>
          </p:nvPr>
        </p:nvSpPr>
        <p:spPr>
          <a:xfrm>
            <a:off x="254000" y="1497330"/>
            <a:ext cx="5129236" cy="302386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4" name="Content Placeholder 2"/>
          <p:cNvSpPr>
            <a:spLocks noGrp="1"/>
          </p:cNvSpPr>
          <p:nvPr>
            <p:ph sz="quarter" idx="19"/>
          </p:nvPr>
        </p:nvSpPr>
        <p:spPr>
          <a:xfrm>
            <a:off x="5556567" y="2137092"/>
            <a:ext cx="3211513" cy="238410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2"/>
          <p:cNvSpPr>
            <a:spLocks noGrp="1"/>
          </p:cNvSpPr>
          <p:nvPr>
            <p:ph type="body" idx="24" hasCustomPrompt="1"/>
          </p:nvPr>
        </p:nvSpPr>
        <p:spPr>
          <a:xfrm>
            <a:off x="5556567" y="1497330"/>
            <a:ext cx="3211513" cy="639762"/>
          </a:xfrm>
        </p:spPr>
        <p:txBody>
          <a:bodyPr anchor="b">
            <a:noAutofit/>
          </a:bodyPr>
          <a:lstStyle>
            <a:lvl1pPr marL="0" indent="0">
              <a:buFont typeface="Arial"/>
              <a:buNone/>
              <a:defRPr sz="1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EAE7DE20-9D8E-407E-8A33-FA12941AFDC7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7C3E947D-4126-44FB-8EC6-F80A3BAA18D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</p:spTree>
    <p:extLst>
      <p:ext uri="{BB962C8B-B14F-4D97-AF65-F5344CB8AC3E}">
        <p14:creationId xmlns:p14="http://schemas.microsoft.com/office/powerpoint/2010/main" val="326211293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White Stri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 userDrawn="1"/>
        </p:nvSpPr>
        <p:spPr>
          <a:xfrm>
            <a:off x="0" y="1161143"/>
            <a:ext cx="9144000" cy="355849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254000" y="132080"/>
            <a:ext cx="8514080" cy="20597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8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16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254000" y="757179"/>
            <a:ext cx="8514080" cy="350262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000" baseline="0">
                <a:solidFill>
                  <a:srgbClr val="FFFFFF"/>
                </a:solidFill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CCD2BB3B-355B-433D-AA8F-2232AA9A09D8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F45B3F8F-DC85-41EB-9D22-D06541A0ACD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</p:spTree>
    <p:extLst>
      <p:ext uri="{BB962C8B-B14F-4D97-AF65-F5344CB8AC3E}">
        <p14:creationId xmlns:p14="http://schemas.microsoft.com/office/powerpoint/2010/main" val="219034064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Dark Stri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 userDrawn="1"/>
        </p:nvSpPr>
        <p:spPr>
          <a:xfrm>
            <a:off x="0" y="1161143"/>
            <a:ext cx="9144000" cy="3558493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254000" y="132080"/>
            <a:ext cx="8514080" cy="20597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8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254000" y="757179"/>
            <a:ext cx="8514080" cy="350262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000" baseline="0">
                <a:solidFill>
                  <a:srgbClr val="FFFFFF"/>
                </a:solidFill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453B94B2-764B-4AEE-8E86-36209B57D673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7F015878-4578-4C49-BC72-FE830FC5A6D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</p:spTree>
    <p:extLst>
      <p:ext uri="{BB962C8B-B14F-4D97-AF65-F5344CB8AC3E}">
        <p14:creationId xmlns:p14="http://schemas.microsoft.com/office/powerpoint/2010/main" val="12080537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83741-3649-40C7-AC1C-DC0B03113BF9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06A69-C78D-46AD-9B4E-1E66EF195C5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</p:spTree>
    <p:extLst>
      <p:ext uri="{BB962C8B-B14F-4D97-AF65-F5344CB8AC3E}">
        <p14:creationId xmlns:p14="http://schemas.microsoft.com/office/powerpoint/2010/main" val="192127828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467360" y="1839278"/>
            <a:ext cx="8229600" cy="1462722"/>
          </a:xfrm>
        </p:spPr>
        <p:txBody>
          <a:bodyPr anchor="ctr">
            <a:noAutofit/>
          </a:bodyPr>
          <a:lstStyle>
            <a:lvl1pPr marL="0" indent="0" algn="ctr">
              <a:buNone/>
              <a:defRPr sz="3600" baseline="0"/>
            </a:lvl1pPr>
          </a:lstStyle>
          <a:p>
            <a:pPr lvl="0"/>
            <a:r>
              <a:rPr lang="en-US" dirty="0"/>
              <a:t>Click to add section header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C6CB3C8-D16C-4285-BF05-882F83494820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1C0F2E9-13F1-4B54-979A-5E00D7D572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58285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_Dark Gray"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467360" y="1839278"/>
            <a:ext cx="8229600" cy="1462722"/>
          </a:xfrm>
        </p:spPr>
        <p:txBody>
          <a:bodyPr anchor="ctr">
            <a:noAutofit/>
          </a:bodyPr>
          <a:lstStyle>
            <a:lvl1pPr marL="0" indent="0" algn="ctr">
              <a:buNone/>
              <a:defRPr sz="36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section header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C6CB3C8-D16C-4285-BF05-882F83494820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1C0F2E9-13F1-4B54-979A-5E00D7D572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675117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B3C8-D16C-4285-BF05-882F83494820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0F2E9-13F1-4B54-979A-5E00D7D572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141417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 userDrawn="1"/>
        </p:nvCxnSpPr>
        <p:spPr>
          <a:xfrm>
            <a:off x="2538518" y="2571750"/>
            <a:ext cx="4057288" cy="0"/>
          </a:xfrm>
          <a:prstGeom prst="line">
            <a:avLst/>
          </a:prstGeom>
          <a:ln w="635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 userDrawn="1"/>
        </p:nvSpPr>
        <p:spPr>
          <a:xfrm>
            <a:off x="1" y="2790066"/>
            <a:ext cx="9144000" cy="40015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2000" kern="0" spc="70" dirty="0">
                <a:solidFill>
                  <a:schemeClr val="accent1"/>
                </a:solidFill>
              </a:rPr>
              <a:t>jpl.nasa.gov</a:t>
            </a:r>
          </a:p>
        </p:txBody>
      </p:sp>
      <p:pic>
        <p:nvPicPr>
          <p:cNvPr id="6" name="Picture 5" descr="Tribrand_ColorWhite_rgb_16x3_16060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518" y="1381408"/>
            <a:ext cx="4057288" cy="1127025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B3C8-D16C-4285-BF05-882F83494820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0F2E9-13F1-4B54-979A-5E00D7D572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673131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ribrand_ColorWhite_rgb_16x3_16060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518" y="2008238"/>
            <a:ext cx="4057288" cy="1127025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B3C8-D16C-4285-BF05-882F83494820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0F2E9-13F1-4B54-979A-5E00D7D572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523330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23B39-76A3-59AB-A380-799D0DF701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1864A3-2E0C-EC56-1E22-9A4A0CB70D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C9BFB0-6AB2-C8D7-63D5-EF85241B2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4E52-FF72-B645-B1EF-301A76F0DF08}" type="datetimeFigureOut">
              <a:rPr lang="en-US" smtClean="0"/>
              <a:t>9/1/25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315229-FC27-2AB0-D8F5-C89F330BA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E1E5F3-09F6-260C-104C-F3F637320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1219E-5FB2-FE41-9130-B17D5891B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40944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79B8C-1B5B-514C-F5EA-3C2A10F28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29AFA2-D772-206E-C86A-D615111D0A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1493A7-FD19-C0E7-39E0-0726DC808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4E52-FF72-B645-B1EF-301A76F0DF08}" type="datetimeFigureOut">
              <a:rPr lang="en-US" smtClean="0"/>
              <a:t>9/1/25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A4AD6-BD16-7717-2AEA-8F7C671AB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705546-4781-0742-607C-D51AEBEA4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1219E-5FB2-FE41-9130-B17D5891B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98325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4028F-C16B-9E86-E01A-38C348B9B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7D114E-09B2-76F7-0112-0F75770139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2FB327-AA53-58DE-9527-907092EEA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4E52-FF72-B645-B1EF-301A76F0DF08}" type="datetimeFigureOut">
              <a:rPr lang="en-US" smtClean="0"/>
              <a:t>9/1/25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9E1F61-D057-DD68-35B1-73BAB1DD1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0871B5-8810-90B7-5927-2394010A9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1219E-5FB2-FE41-9130-B17D5891B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27660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17CE2-CA70-4C85-4B45-1E1D70C9E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81341C-DC73-CD0E-2E98-2159AB3F2A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8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0DECF5-A226-DA2E-5D24-4DBB4FDC93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8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C97E79-6F00-CA09-68B3-8625B7D7B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4E52-FF72-B645-B1EF-301A76F0DF08}" type="datetimeFigureOut">
              <a:rPr lang="en-US" smtClean="0"/>
              <a:t>9/1/25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8C5CDB-82CE-8735-D4C6-5FA89621E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70DFF8-1AF0-9D58-A2D9-532E3E42A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1219E-5FB2-FE41-9130-B17D5891B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46751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31C2A-E0A7-E570-E75E-AADC6B114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69D58D-B021-4626-A536-EBB7A1FB77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48C278-4545-CB71-9562-4ED50E8193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6702CF-C755-6845-9E7B-CBD7B54EE4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224754-B0F8-66BB-665F-3DC66B241E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2EB692-4DEC-B096-65FD-D9FB8EC82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4E52-FF72-B645-B1EF-301A76F0DF08}" type="datetimeFigureOut">
              <a:rPr lang="en-US" smtClean="0"/>
              <a:t>9/1/25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F9E06B-476D-C255-1D87-6F2C90281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765B2B-D114-4895-D8E8-9F1F06F8B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1219E-5FB2-FE41-9130-B17D5891B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78069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A20C8-BBDD-0D4B-B5DB-432D4888F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736DD3-D48B-90C8-8F92-4DE3B101D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4E52-FF72-B645-B1EF-301A76F0DF08}" type="datetimeFigureOut">
              <a:rPr lang="en-US" smtClean="0"/>
              <a:t>9/1/25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4A2494-8219-08D9-AAB7-950A6939C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8353EC-7878-6FB9-06A6-781396CBE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1219E-5FB2-FE41-9130-B17D5891B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94649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354580-941E-0DA3-C65D-4C828EA3E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4E52-FF72-B645-B1EF-301A76F0DF08}" type="datetimeFigureOut">
              <a:rPr lang="en-US" smtClean="0"/>
              <a:t>9/1/25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F48271-AFB0-188B-B389-4A938E800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FBA14A-7ACF-1731-3D99-DCE548463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1219E-5FB2-FE41-9130-B17D5891B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73754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6DABB-D241-9DB5-0E55-7FAECF832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10472A-87D5-7628-0F55-9AEC1EFB23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20136C-5E0A-4982-CA61-61354F50D7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116CD9-3FFA-82C4-7ECA-4CC1E59D9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4E52-FF72-B645-B1EF-301A76F0DF08}" type="datetimeFigureOut">
              <a:rPr lang="en-US" smtClean="0"/>
              <a:t>9/1/25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F28C4F-3F54-3272-B100-B63C7464D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6AA11D-FAA8-BAAF-F012-8559B4616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1219E-5FB2-FE41-9130-B17D5891B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72668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46FEB-DE91-5C24-F873-7A21DF257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748D0F-363A-727F-7B47-85DEDB52B3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B79FCE-CF45-4186-0585-49BB32A5FD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28173B-BA3B-E602-3F44-808E5F3F6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4E52-FF72-B645-B1EF-301A76F0DF08}" type="datetimeFigureOut">
              <a:rPr lang="en-US" smtClean="0"/>
              <a:t>9/1/25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F6F723-B9D4-DFC9-737A-489151A20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A02815-4737-3DE6-068D-19AC56C80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1219E-5FB2-FE41-9130-B17D5891B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31356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85B33-256E-1BCC-6B2A-ABA70E52C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CDB7FE-145E-D7EA-612F-F76E1B7A14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787C1E-B821-2A98-BCB2-E95D8AC3C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4E52-FF72-B645-B1EF-301A76F0DF08}" type="datetimeFigureOut">
              <a:rPr lang="en-US" smtClean="0"/>
              <a:t>9/1/25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7C7841-0F23-FB4E-BF56-9A495FF49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82A1EE-0610-C8CC-763E-7023991B3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1219E-5FB2-FE41-9130-B17D5891B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12894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9D9042-A847-FEFB-00F3-CBE6F60C0D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3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336CD1-DE07-71C7-3BE2-5E3953E750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3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E3896D-720C-FA36-1764-6B0AA777A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4E52-FF72-B645-B1EF-301A76F0DF08}" type="datetimeFigureOut">
              <a:rPr lang="en-US" smtClean="0"/>
              <a:t>9/1/25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FB27FE-C992-03CB-C824-AA45AACEE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730D5B-B03B-B64B-87B8-3D1D3BFDC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1219E-5FB2-FE41-9130-B17D5891B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49376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2.xml"/><Relationship Id="rId3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5.xml"/><Relationship Id="rId6" Type="http://schemas.openxmlformats.org/officeDocument/2006/relationships/slideLayout" Target="../slideLayouts/slideLayout26.xml"/><Relationship Id="rId7" Type="http://schemas.openxmlformats.org/officeDocument/2006/relationships/slideLayout" Target="../slideLayouts/slideLayout27.xml"/><Relationship Id="rId8" Type="http://schemas.openxmlformats.org/officeDocument/2006/relationships/slideLayout" Target="../slideLayouts/slideLayout28.xml"/><Relationship Id="rId9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35.xml"/><Relationship Id="rId1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37.xml"/><Relationship Id="rId1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39.xml"/><Relationship Id="rId20" Type="http://schemas.openxmlformats.org/officeDocument/2006/relationships/slideLayout" Target="../slideLayouts/slideLayout40.xml"/><Relationship Id="rId21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slideLayout" Target="../slideLayouts/slideLayout42.xml"/><Relationship Id="rId3" Type="http://schemas.openxmlformats.org/officeDocument/2006/relationships/slideLayout" Target="../slideLayouts/slideLayout43.xml"/><Relationship Id="rId4" Type="http://schemas.openxmlformats.org/officeDocument/2006/relationships/slideLayout" Target="../slideLayouts/slideLayout44.xml"/><Relationship Id="rId5" Type="http://schemas.openxmlformats.org/officeDocument/2006/relationships/slideLayout" Target="../slideLayouts/slideLayout45.xml"/><Relationship Id="rId6" Type="http://schemas.openxmlformats.org/officeDocument/2006/relationships/slideLayout" Target="../slideLayouts/slideLayout46.xml"/><Relationship Id="rId7" Type="http://schemas.openxmlformats.org/officeDocument/2006/relationships/slideLayout" Target="../slideLayouts/slideLayout47.xml"/><Relationship Id="rId8" Type="http://schemas.openxmlformats.org/officeDocument/2006/relationships/slideLayout" Target="../slideLayouts/slideLayout48.xml"/><Relationship Id="rId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1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4000" y="327899"/>
            <a:ext cx="8514080" cy="43410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4000" y="1200150"/>
            <a:ext cx="8432800" cy="33940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3999" y="4802823"/>
            <a:ext cx="1422401" cy="27463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0FB8DC75-F238-4FEA-A196-95F443A65C8E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76401" y="4802823"/>
            <a:ext cx="5791199" cy="27463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800">
                <a:solidFill>
                  <a:schemeClr val="accent4"/>
                </a:solidFill>
              </a:defRPr>
            </a:lvl1pPr>
          </a:lstStyle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67600" y="4802823"/>
            <a:ext cx="586130" cy="2720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0E0E1749-0B7E-403A-A9A7-95F2ED1F28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6911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1" r:id="rId5"/>
    <p:sldLayoutId id="2147483662" r:id="rId6"/>
    <p:sldLayoutId id="2147483664" r:id="rId7"/>
    <p:sldLayoutId id="2147483663" r:id="rId8"/>
    <p:sldLayoutId id="2147483669" r:id="rId9"/>
    <p:sldLayoutId id="2147483670" r:id="rId10"/>
    <p:sldLayoutId id="2147483671" r:id="rId11"/>
    <p:sldLayoutId id="2147483672" r:id="rId12"/>
    <p:sldLayoutId id="2147483653" r:id="rId13"/>
    <p:sldLayoutId id="2147483654" r:id="rId14"/>
    <p:sldLayoutId id="2147483656" r:id="rId15"/>
    <p:sldLayoutId id="2147483657" r:id="rId16"/>
    <p:sldLayoutId id="2147483658" r:id="rId17"/>
    <p:sldLayoutId id="2147483659" r:id="rId18"/>
    <p:sldLayoutId id="2147483660" r:id="rId19"/>
    <p:sldLayoutId id="2147483693" r:id="rId20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2400" b="1" i="0" u="none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3363" indent="-233363" algn="l" defTabSz="457200" rtl="0" eaLnBrk="1" latinLnBrk="0" hangingPunct="1">
        <a:spcBef>
          <a:spcPct val="20000"/>
        </a:spcBef>
        <a:buClr>
          <a:schemeClr val="bg1">
            <a:lumMod val="50000"/>
          </a:schemeClr>
        </a:buClr>
        <a:buFont typeface="Arial"/>
        <a:buChar char="•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90563" indent="-233363" algn="l" defTabSz="457200" rtl="0" eaLnBrk="1" latinLnBrk="0" hangingPunct="1">
        <a:spcBef>
          <a:spcPct val="20000"/>
        </a:spcBef>
        <a:buClr>
          <a:schemeClr val="bg1">
            <a:lumMod val="50000"/>
          </a:schemeClr>
        </a:buClr>
        <a:buFont typeface="Arial"/>
        <a:buChar char="•"/>
        <a:defRPr sz="1800" b="0" i="0" u="none" kern="1200">
          <a:solidFill>
            <a:schemeClr val="tx1"/>
          </a:solidFill>
          <a:latin typeface="+mn-lt"/>
          <a:ea typeface="+mn-ea"/>
          <a:cs typeface="+mn-cs"/>
        </a:defRPr>
      </a:lvl2pPr>
      <a:lvl3pPr marL="1147763" indent="-233363" algn="l" defTabSz="457200" rtl="0" eaLnBrk="1" latinLnBrk="0" hangingPunct="1">
        <a:spcBef>
          <a:spcPct val="20000"/>
        </a:spcBef>
        <a:buClr>
          <a:schemeClr val="bg1">
            <a:lumMod val="50000"/>
          </a:schemeClr>
        </a:buClr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4963" indent="-233363" algn="l" defTabSz="457200" rtl="0" eaLnBrk="1" latinLnBrk="0" hangingPunct="1">
        <a:spcBef>
          <a:spcPct val="20000"/>
        </a:spcBef>
        <a:buClr>
          <a:schemeClr val="bg1">
            <a:lumMod val="50000"/>
          </a:schemeClr>
        </a:buClr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62163" indent="-233363" algn="l" defTabSz="457200" rtl="0" eaLnBrk="1" latinLnBrk="0" hangingPunct="1">
        <a:spcBef>
          <a:spcPct val="20000"/>
        </a:spcBef>
        <a:buClr>
          <a:schemeClr val="bg1">
            <a:lumMod val="50000"/>
          </a:schemeClr>
        </a:buClr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4000" y="327899"/>
            <a:ext cx="8514080" cy="43410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4000" y="1200150"/>
            <a:ext cx="8432800" cy="33940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4000" y="4802823"/>
            <a:ext cx="1422400" cy="27463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2C6CB3C8-D16C-4285-BF05-882F83494820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76400" y="4802823"/>
            <a:ext cx="5775960" cy="27463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800">
                <a:solidFill>
                  <a:schemeClr val="accent4"/>
                </a:solidFill>
              </a:defRPr>
            </a:lvl1pPr>
          </a:lstStyle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52360" y="4802823"/>
            <a:ext cx="601370" cy="2720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11C0F2E9-13F1-4B54-979A-5E00D7D572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6072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  <p:sldLayoutId id="2147483688" r:id="rId15"/>
    <p:sldLayoutId id="2147483689" r:id="rId16"/>
    <p:sldLayoutId id="2147483690" r:id="rId17"/>
    <p:sldLayoutId id="2147483691" r:id="rId18"/>
    <p:sldLayoutId id="2147483692" r:id="rId19"/>
    <p:sldLayoutId id="2147483694" r:id="rId20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2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33363" indent="-233363" algn="l" defTabSz="457200" rtl="0" eaLnBrk="1" latinLnBrk="0" hangingPunct="1">
        <a:spcBef>
          <a:spcPct val="20000"/>
        </a:spcBef>
        <a:buClr>
          <a:schemeClr val="bg1">
            <a:lumMod val="50000"/>
          </a:schemeClr>
        </a:buClr>
        <a:buFont typeface="Arial"/>
        <a:buChar char="•"/>
        <a:tabLst/>
        <a:defRPr sz="2000" kern="1200">
          <a:solidFill>
            <a:schemeClr val="bg1"/>
          </a:solidFill>
          <a:latin typeface="+mn-lt"/>
          <a:ea typeface="+mn-ea"/>
          <a:cs typeface="+mn-cs"/>
        </a:defRPr>
      </a:lvl1pPr>
      <a:lvl2pPr marL="690563" indent="-233363" algn="l" defTabSz="457200" rtl="0" eaLnBrk="1" latinLnBrk="0" hangingPunct="1">
        <a:spcBef>
          <a:spcPct val="20000"/>
        </a:spcBef>
        <a:buClr>
          <a:schemeClr val="bg1">
            <a:lumMod val="50000"/>
          </a:schemeClr>
        </a:buClr>
        <a:buFont typeface="Arial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7763" indent="-233363" algn="l" defTabSz="457200" rtl="0" eaLnBrk="1" latinLnBrk="0" hangingPunct="1">
        <a:spcBef>
          <a:spcPct val="20000"/>
        </a:spcBef>
        <a:buClr>
          <a:schemeClr val="bg1">
            <a:lumMod val="50000"/>
          </a:schemeClr>
        </a:buClr>
        <a:buFont typeface="Arial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3pPr>
      <a:lvl4pPr marL="1604963" indent="-233363" algn="l" defTabSz="457200" rtl="0" eaLnBrk="1" latinLnBrk="0" hangingPunct="1">
        <a:spcBef>
          <a:spcPct val="20000"/>
        </a:spcBef>
        <a:buClr>
          <a:schemeClr val="bg1">
            <a:lumMod val="50000"/>
          </a:schemeClr>
        </a:buClr>
        <a:buFont typeface="Arial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4pPr>
      <a:lvl5pPr marL="2062163" indent="-233363" algn="l" defTabSz="457200" rtl="0" eaLnBrk="1" latinLnBrk="0" hangingPunct="1">
        <a:spcBef>
          <a:spcPct val="20000"/>
        </a:spcBef>
        <a:buClr>
          <a:schemeClr val="bg1">
            <a:lumMod val="50000"/>
          </a:schemeClr>
        </a:buClr>
        <a:buFont typeface="Arial"/>
        <a:buChar char="•"/>
        <a:defRPr sz="12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34F3BF-97B7-EC27-2340-24FA9B77E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A764DC-EBE9-EB9F-3BB0-7B8BF4B2DF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4EA5B2-2FE3-D455-B515-D227088555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FF4E52-FF72-B645-B1EF-301A76F0DF08}" type="datetimeFigureOut">
              <a:rPr lang="en-US" smtClean="0"/>
              <a:t>9/1/25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598F9C-E8C1-EBB9-E828-BE8AA75563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B61C82-B4D0-EE5A-115C-03FD70D407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D1219E-5FB2-FE41-9130-B17D5891B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7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rPr sz="2800"/>
              <a:t>JPL’s Earth Modeling &amp;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rPr sz="2800"/>
              <a:t>Observation Dashboard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rPr sz="1400"/>
              <a:t>Tracking Scientific Impact, Cross-Model Connections, and Capability Assessment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rPr sz="1100"/>
              <a:t>Technical Seminar  •  March 2026</a:t>
            </a:r>
          </a:p>
          <a:p>
            <a:r>
              <a:t>JEME  •  JEOE  •  JESP  •  Model Capability Levels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477000" y="950000"/>
            <a:ext cx="1950000" cy="380000"/>
          </a:xfrm>
          <a:prstGeom prst="rect">
            <a:avLst/>
          </a:prstGeom>
          <a:solidFill>
            <a:srgbClr val="0032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Context &amp; 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477000" y="1330000"/>
            <a:ext cx="1950000" cy="2420000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7000" y="1390000"/>
            <a:ext cx="1790000" cy="2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 Motivation &amp; objectives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 JEME: 8 Earth system models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 JEOE: NASA observation missions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2557000" y="950000"/>
            <a:ext cx="1950000" cy="38000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Analytics &amp; Quality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2557000" y="1330000"/>
            <a:ext cx="1950000" cy="2420000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37000" y="1390000"/>
            <a:ext cx="1790000" cy="2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 Citation analytics pipeline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 Multi-agent data verification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 Uncertainty quantification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37000" y="950000"/>
            <a:ext cx="1950000" cy="380000"/>
          </a:xfrm>
          <a:prstGeom prst="rect">
            <a:avLst/>
          </a:prstGeom>
          <a:solidFill>
            <a:srgbClr val="007C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Interconnections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37000" y="1330000"/>
            <a:ext cx="1950000" cy="2420000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17000" y="1390000"/>
            <a:ext cx="1790000" cy="2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 Cross-model network analysis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 Earth system spheres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 Model Capability Levels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17000" y="950000"/>
            <a:ext cx="1950000" cy="38000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Synthesis &amp; Surprise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17000" y="1330000"/>
            <a:ext cx="1950000" cy="2420000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97000" y="1390000"/>
            <a:ext cx="1790000" cy="2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 Gap analysis &amp; priorities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 Dashboard architecture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 JESP: scientist profiles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 Path forward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4000" y="4100000"/>
            <a:ext cx="8636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1">
                <a:solidFill>
                  <a:srgbClr val="666666"/>
                </a:solidFill>
                <a:latin typeface="Calibri"/>
              </a:defRPr>
            </a:pPr>
            <a:r>
              <a:t>20 minutes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Motivation &amp;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254000" y="780000"/>
            <a:ext cx="8636000" cy="350000"/>
          </a:xfrm>
          <a:prstGeom prst="rect">
            <a:avLst/>
          </a:prstGeom>
          <a:solidFill>
            <a:srgbClr val="E8F0F8"/>
          </a:solidFill>
          <a:ln w="6350">
            <a:solidFill>
              <a:srgbClr val="006D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34000" y="790000"/>
            <a:ext cx="8476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003266"/>
                </a:solidFill>
                <a:latin typeface="Calibri"/>
              </a:defRPr>
            </a:pPr>
            <a:r>
              <a:t>NASA’s Earth Science to Action Strategy and JPL’s Strategic R&amp;TD investment in the Earth Science domain require objective, quantitative assessment of observation-informed models to advance science, build decision-support tools, and formulate new satellite missions.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254000" y="1300000"/>
            <a:ext cx="2700000" cy="38000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Scientific 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4000" y="1740000"/>
            <a:ext cx="258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 How widely are JPL models cited?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 Which research domains adopt them?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 What is the geographic reach?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 Track growth and influence over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3084000" y="1300000"/>
            <a:ext cx="2700000" cy="380000"/>
          </a:xfrm>
          <a:prstGeom prst="rect">
            <a:avLst/>
          </a:prstGeom>
          <a:solidFill>
            <a:srgbClr val="007C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Cross-Model Connections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44000" y="1740000"/>
            <a:ext cx="258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 Which models share citing papers?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 How do Earth system spheres interconnect?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 Where are collaboration opportunities?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 Identify bridge papers linking domains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14000" y="1300000"/>
            <a:ext cx="2700000" cy="38000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Capability 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74000" y="1740000"/>
            <a:ext cx="258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 Are models fit for intended applications?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 Where are common development gaps?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 How to prioritize limited resources?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 Systematic, evidence-based evaluation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4000" y="3900000"/>
            <a:ext cx="8636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003266"/>
                </a:solidFill>
                <a:latin typeface="Calibri"/>
              </a:defRPr>
            </a:pPr>
            <a:r>
              <a:t>This dashboard provides the quantitative evidence base for JPL’s Strategic R&amp;TD planning in Earth Science.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JEME: JPL’s Earth Modeling Enterprise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4000" y="780000"/>
            <a:ext cx="8636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66666"/>
                </a:solidFill>
                <a:latin typeface="Calibri"/>
              </a:defRPr>
            </a:pPr>
            <a:r>
              <a:t>8 observation-informed modeling frameworks spanning the full Earth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304000" y="1080000"/>
            <a:ext cx="1200000" cy="300000"/>
          </a:xfrm>
          <a:prstGeom prst="rect">
            <a:avLst/>
          </a:prstGeom>
          <a:solidFill>
            <a:srgbClr val="003266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1504000" y="1080000"/>
            <a:ext cx="1900000" cy="300000"/>
          </a:xfrm>
          <a:prstGeom prst="rect">
            <a:avLst/>
          </a:prstGeom>
          <a:solidFill>
            <a:srgbClr val="003266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Domain</a:t>
            </a:r>
          </a:p>
        </p:txBody>
      </p:sp>
      <p:sp>
        <p:nvSpPr>
          <p:cNvPr id="7" name="Rectangle 6"/>
          <p:cNvSpPr/>
          <p:nvPr/>
        </p:nvSpPr>
        <p:spPr>
          <a:xfrm>
            <a:off x="3404000" y="1080000"/>
            <a:ext cx="2100000" cy="300000"/>
          </a:xfrm>
          <a:prstGeom prst="rect">
            <a:avLst/>
          </a:prstGeom>
          <a:solidFill>
            <a:srgbClr val="003266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Data Assimilation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504000" y="1080000"/>
            <a:ext cx="3300000" cy="300000"/>
          </a:xfrm>
          <a:prstGeom prst="rect">
            <a:avLst/>
          </a:prstGeom>
          <a:solidFill>
            <a:srgbClr val="003266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Key Partners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304000" y="1380000"/>
            <a:ext cx="1200000" cy="300000"/>
          </a:xfrm>
          <a:prstGeom prst="rect">
            <a:avLst/>
          </a:prstGeom>
          <a:noFill/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ECCO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04000" y="1380000"/>
            <a:ext cx="1900000" cy="300000"/>
          </a:xfrm>
          <a:prstGeom prst="rect">
            <a:avLst/>
          </a:prstGeom>
          <a:noFill/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>
              <a:defRPr sz="800" b="0">
                <a:solidFill>
                  <a:srgbClr val="333333"/>
                </a:solidFill>
                <a:latin typeface="Calibri"/>
              </a:defRPr>
            </a:pPr>
            <a:r>
              <a:t>Oceanography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04000" y="1380000"/>
            <a:ext cx="2100000" cy="300000"/>
          </a:xfrm>
          <a:prstGeom prst="rect">
            <a:avLst/>
          </a:prstGeom>
          <a:noFill/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>
              <a:defRPr sz="800" b="0">
                <a:solidFill>
                  <a:srgbClr val="333333"/>
                </a:solidFill>
                <a:latin typeface="Calibri"/>
              </a:defRPr>
            </a:pPr>
            <a:r>
              <a:t>4D-Var adjoint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04000" y="1380000"/>
            <a:ext cx="3300000" cy="300000"/>
          </a:xfrm>
          <a:prstGeom prst="rect">
            <a:avLst/>
          </a:prstGeom>
          <a:noFill/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>
              <a:defRPr sz="800" b="0">
                <a:solidFill>
                  <a:srgbClr val="333333"/>
                </a:solidFill>
                <a:latin typeface="Calibri"/>
              </a:defRPr>
            </a:pPr>
            <a:r>
              <a:t>MIT, UT Austin, Scripps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4000" y="1680000"/>
            <a:ext cx="1200000" cy="300000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ISSM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04000" y="1680000"/>
            <a:ext cx="1900000" cy="300000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>
              <a:defRPr sz="800" b="0">
                <a:solidFill>
                  <a:srgbClr val="333333"/>
                </a:solidFill>
                <a:latin typeface="Calibri"/>
              </a:defRPr>
            </a:pPr>
            <a:r>
              <a:t>Cryosphere / Sea Level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4000" y="1680000"/>
            <a:ext cx="2100000" cy="300000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>
              <a:defRPr sz="800" b="0">
                <a:solidFill>
                  <a:srgbClr val="333333"/>
                </a:solidFill>
                <a:latin typeface="Calibri"/>
              </a:defRPr>
            </a:pPr>
            <a:r>
              <a:t>4D-Var adjoint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04000" y="1680000"/>
            <a:ext cx="3300000" cy="300000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>
              <a:defRPr sz="800" b="0">
                <a:solidFill>
                  <a:srgbClr val="333333"/>
                </a:solidFill>
                <a:latin typeface="Calibri"/>
              </a:defRPr>
            </a:pPr>
            <a:r>
              <a:t>UC Irvine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4000" y="1980000"/>
            <a:ext cx="1200000" cy="300000"/>
          </a:xfrm>
          <a:prstGeom prst="rect">
            <a:avLst/>
          </a:prstGeom>
          <a:noFill/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CMS-Flux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04000" y="1980000"/>
            <a:ext cx="1900000" cy="300000"/>
          </a:xfrm>
          <a:prstGeom prst="rect">
            <a:avLst/>
          </a:prstGeom>
          <a:noFill/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>
              <a:defRPr sz="800" b="0">
                <a:solidFill>
                  <a:srgbClr val="333333"/>
                </a:solidFill>
                <a:latin typeface="Calibri"/>
              </a:defRPr>
            </a:pPr>
            <a:r>
              <a:t>Carbon Flux Monitoring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4000" y="1980000"/>
            <a:ext cx="2100000" cy="300000"/>
          </a:xfrm>
          <a:prstGeom prst="rect">
            <a:avLst/>
          </a:prstGeom>
          <a:noFill/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>
              <a:defRPr sz="800" b="0">
                <a:solidFill>
                  <a:srgbClr val="333333"/>
                </a:solidFill>
                <a:latin typeface="Calibri"/>
              </a:defRPr>
            </a:pPr>
            <a:r>
              <a:t>4D-Var adjoint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04000" y="1980000"/>
            <a:ext cx="3300000" cy="300000"/>
          </a:xfrm>
          <a:prstGeom prst="rect">
            <a:avLst/>
          </a:prstGeom>
          <a:noFill/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>
              <a:defRPr sz="800" b="0">
                <a:solidFill>
                  <a:srgbClr val="333333"/>
                </a:solidFill>
                <a:latin typeface="Calibri"/>
              </a:defRPr>
            </a:pPr>
            <a:r>
              <a:t>NASA GSFC, Ames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4000" y="2280000"/>
            <a:ext cx="1200000" cy="300000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RAPID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04000" y="2280000"/>
            <a:ext cx="1900000" cy="300000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>
              <a:defRPr sz="800" b="0">
                <a:solidFill>
                  <a:srgbClr val="333333"/>
                </a:solidFill>
                <a:latin typeface="Calibri"/>
              </a:defRPr>
            </a:pPr>
            <a:r>
              <a:t>Hydrology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04000" y="2280000"/>
            <a:ext cx="2100000" cy="300000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>
              <a:defRPr sz="800" b="0">
                <a:solidFill>
                  <a:srgbClr val="333333"/>
                </a:solidFill>
                <a:latin typeface="Calibri"/>
              </a:defRPr>
            </a:pPr>
            <a:r>
              <a:t>Kalman Filter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504000" y="2280000"/>
            <a:ext cx="3300000" cy="300000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>
              <a:defRPr sz="800" b="0">
                <a:solidFill>
                  <a:srgbClr val="333333"/>
                </a:solidFill>
                <a:latin typeface="Calibri"/>
              </a:defRPr>
            </a:pPr>
            <a:r>
              <a:t>UT Austin, NOAA NWS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4000" y="2580000"/>
            <a:ext cx="1200000" cy="300000"/>
          </a:xfrm>
          <a:prstGeom prst="rect">
            <a:avLst/>
          </a:prstGeom>
          <a:noFill/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CARDAMOM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504000" y="2580000"/>
            <a:ext cx="1900000" cy="300000"/>
          </a:xfrm>
          <a:prstGeom prst="rect">
            <a:avLst/>
          </a:prstGeom>
          <a:noFill/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>
              <a:defRPr sz="800" b="0">
                <a:solidFill>
                  <a:srgbClr val="333333"/>
                </a:solidFill>
                <a:latin typeface="Calibri"/>
              </a:defRPr>
            </a:pPr>
            <a:r>
              <a:t>Terrestrial Ecosystems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04000" y="2580000"/>
            <a:ext cx="2100000" cy="300000"/>
          </a:xfrm>
          <a:prstGeom prst="rect">
            <a:avLst/>
          </a:prstGeom>
          <a:noFill/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>
              <a:defRPr sz="800" b="0">
                <a:solidFill>
                  <a:srgbClr val="333333"/>
                </a:solidFill>
                <a:latin typeface="Calibri"/>
              </a:defRPr>
            </a:pPr>
            <a:r>
              <a:t>Bayesian MCMC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04000" y="2580000"/>
            <a:ext cx="3300000" cy="300000"/>
          </a:xfrm>
          <a:prstGeom prst="rect">
            <a:avLst/>
          </a:prstGeom>
          <a:noFill/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>
              <a:defRPr sz="800" b="0">
                <a:solidFill>
                  <a:srgbClr val="333333"/>
                </a:solidFill>
                <a:latin typeface="Calibri"/>
              </a:defRPr>
            </a:pPr>
            <a:r>
              <a:t>Stanford, Edinburgh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4000" y="2880000"/>
            <a:ext cx="1200000" cy="300000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MOMO-CHEM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504000" y="2880000"/>
            <a:ext cx="1900000" cy="300000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>
              <a:defRPr sz="800" b="0">
                <a:solidFill>
                  <a:srgbClr val="333333"/>
                </a:solidFill>
                <a:latin typeface="Calibri"/>
              </a:defRPr>
            </a:pPr>
            <a:r>
              <a:t>Atmospheric Chemistry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04000" y="2880000"/>
            <a:ext cx="2100000" cy="300000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>
              <a:defRPr sz="800" b="0">
                <a:solidFill>
                  <a:srgbClr val="333333"/>
                </a:solidFill>
                <a:latin typeface="Calibri"/>
              </a:defRPr>
            </a:pPr>
            <a:r>
              <a:t>Ensemble Kalman Filter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504000" y="2880000"/>
            <a:ext cx="3300000" cy="300000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>
              <a:defRPr sz="800" b="0">
                <a:solidFill>
                  <a:srgbClr val="333333"/>
                </a:solidFill>
                <a:latin typeface="Calibri"/>
              </a:defRPr>
            </a:pPr>
            <a:r>
              <a:t>JAMSTEC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4000" y="3180000"/>
            <a:ext cx="1200000" cy="300000"/>
          </a:xfrm>
          <a:prstGeom prst="rect">
            <a:avLst/>
          </a:prstGeom>
          <a:noFill/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LES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504000" y="3180000"/>
            <a:ext cx="1900000" cy="300000"/>
          </a:xfrm>
          <a:prstGeom prst="rect">
            <a:avLst/>
          </a:prstGeom>
          <a:noFill/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>
              <a:defRPr sz="800" b="0">
                <a:solidFill>
                  <a:srgbClr val="333333"/>
                </a:solidFill>
                <a:latin typeface="Calibri"/>
              </a:defRPr>
            </a:pPr>
            <a:r>
              <a:t>Cloud / Turbulence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04000" y="3180000"/>
            <a:ext cx="2100000" cy="300000"/>
          </a:xfrm>
          <a:prstGeom prst="rect">
            <a:avLst/>
          </a:prstGeom>
          <a:noFill/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>
              <a:defRPr sz="800" b="0">
                <a:solidFill>
                  <a:srgbClr val="333333"/>
                </a:solidFill>
                <a:latin typeface="Calibri"/>
              </a:defRPr>
            </a:pPr>
            <a:r>
              <a:t>Process model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04000" y="3180000"/>
            <a:ext cx="3300000" cy="300000"/>
          </a:xfrm>
          <a:prstGeom prst="rect">
            <a:avLst/>
          </a:prstGeom>
          <a:noFill/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>
              <a:defRPr sz="800" b="0">
                <a:solidFill>
                  <a:srgbClr val="333333"/>
                </a:solidFill>
                <a:latin typeface="Calibri"/>
              </a:defRPr>
            </a:pPr>
            <a:r>
              <a:t>UConn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04000" y="3480000"/>
            <a:ext cx="1200000" cy="300000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EDMF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504000" y="3480000"/>
            <a:ext cx="1900000" cy="300000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>
              <a:defRPr sz="800" b="0">
                <a:solidFill>
                  <a:srgbClr val="333333"/>
                </a:solidFill>
                <a:latin typeface="Calibri"/>
              </a:defRPr>
            </a:pPr>
            <a:r>
              <a:t>Atmospheric Physics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04000" y="3480000"/>
            <a:ext cx="2100000" cy="300000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>
              <a:defRPr sz="800" b="0">
                <a:solidFill>
                  <a:srgbClr val="333333"/>
                </a:solidFill>
                <a:latin typeface="Calibri"/>
              </a:defRPr>
            </a:pPr>
            <a:r>
              <a:t>Bayesian Inference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504000" y="3480000"/>
            <a:ext cx="3300000" cy="300000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>
              <a:defRPr sz="800" b="0">
                <a:solidFill>
                  <a:srgbClr val="333333"/>
                </a:solidFill>
                <a:latin typeface="Calibri"/>
              </a:defRPr>
            </a:pPr>
            <a:r>
              <a:t>GFDL, NCAR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4000" y="3850000"/>
            <a:ext cx="8636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All models are mission-essential JPL assets for: (1) addressing Decadal Survey questions, (2) developing decision-support applications, and (3) new satellite mission formulation.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JEME Dashboard: Live Demonstrations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190000" y="770000"/>
            <a:ext cx="4320000" cy="2720000"/>
          </a:xfrm>
          <a:prstGeom prst="rect">
            <a:avLst/>
          </a:prstGeom>
          <a:noFill/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jeme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00" y="780000"/>
            <a:ext cx="4300000" cy="2700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640000" y="770000"/>
            <a:ext cx="4320000" cy="2720000"/>
          </a:xfrm>
          <a:prstGeom prst="rect">
            <a:avLst/>
          </a:prstGeom>
          <a:noFill/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jeme_ec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0000" y="780000"/>
            <a:ext cx="4300000" cy="270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00000" y="3550000"/>
            <a:ext cx="43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JEME Main Dashboard — 8 models with interactive Earth visualization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50000" y="3550000"/>
            <a:ext cx="43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Model-Specific View — ECCO citation analytics &amp; metrics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4000" y="3900000"/>
            <a:ext cx="8636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006DAE"/>
                </a:solidFill>
                <a:latin typeface="Calibri"/>
              </a:defRPr>
            </a:pPr>
            <a:r>
              <a:t>http://34.31.165.25:3000/science-model-dashboard/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JEOE: JPL Earth Observation Enterprise</a:t>
            </a:r>
          </a:p>
        </p:txBody>
      </p:sp>
      <p:sp>
        <p:nvSpPr>
          <p:cNvPr id="4" name="Rectangle 3"/>
          <p:cNvSpPr/>
          <p:nvPr/>
        </p:nvSpPr>
        <p:spPr>
          <a:xfrm>
            <a:off x="254000" y="900000"/>
            <a:ext cx="4100000" cy="35000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GRACE / GRACE Follow-On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4000" y="1280000"/>
            <a:ext cx="39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03266"/>
                </a:solidFill>
                <a:latin typeface="Calibri"/>
              </a:defRPr>
            </a:pPr>
            <a:r>
              <a:t>Gravity Recovery and Climate Experiment  •  Geophysics &amp; Geodesy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4000" y="1520000"/>
            <a:ext cx="394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 Tracks Earth’s gravity field changes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 Water storage, ice mass balance, sea level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 Observational constraint for ECCO, ISSM, RAPID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54000" y="900000"/>
            <a:ext cx="4100000" cy="350000"/>
          </a:xfrm>
          <a:prstGeom prst="rect">
            <a:avLst/>
          </a:prstGeom>
          <a:solidFill>
            <a:srgbClr val="007C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SWOT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34000" y="1280000"/>
            <a:ext cx="39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03266"/>
                </a:solidFill>
                <a:latin typeface="Calibri"/>
              </a:defRPr>
            </a:pPr>
            <a:r>
              <a:t>Surface Water and Ocean Topography  •  Ocean &amp; Inland Water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34000" y="1520000"/>
            <a:ext cx="394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 Ka-band radar interferometry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 Unprecedented water surface elevation measurements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 Key future data source for RAPID, ECCO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4000" y="3600000"/>
            <a:ext cx="8636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JEOE and JEME share a unified dashboard with context-aware navigation, cross-referencing mission observations with the models that assimilate their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JEOE Dashboard: Live Demonstrations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190000" y="770000"/>
            <a:ext cx="4320000" cy="2720000"/>
          </a:xfrm>
          <a:prstGeom prst="rect">
            <a:avLst/>
          </a:prstGeom>
          <a:noFill/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jeoe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00" y="780000"/>
            <a:ext cx="4300000" cy="2700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640000" y="770000"/>
            <a:ext cx="4320000" cy="2720000"/>
          </a:xfrm>
          <a:prstGeom prst="rect">
            <a:avLst/>
          </a:prstGeom>
          <a:noFill/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jeoe_gr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0000" y="780000"/>
            <a:ext cx="4300000" cy="270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00000" y="3550000"/>
            <a:ext cx="43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JEOE Main Dashboard — GRACE &amp; SWOT mission comparison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50000" y="3550000"/>
            <a:ext cx="43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Mission-Specific View — GRACE citation analytics &amp; metrics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4000" y="3900000"/>
            <a:ext cx="8636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007C92"/>
                </a:solidFill>
                <a:latin typeface="Calibri"/>
              </a:defRPr>
            </a:pPr>
            <a:r>
              <a:t>http://34.31.165.25:3000/science-model-dashboard/JEOE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Citation Analytics Pipeline</a:t>
            </a:r>
          </a:p>
        </p:txBody>
      </p:sp>
      <p:pic>
        <p:nvPicPr>
          <p:cNvPr id="4" name="Picture 3" descr="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000" y="800000"/>
            <a:ext cx="8650000" cy="11146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4000" y="2900000"/>
            <a:ext cx="8636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003266"/>
                </a:solidFill>
                <a:latin typeface="Calibri"/>
              </a:defRPr>
            </a:pPr>
            <a:r>
              <a:t>Key Metrics per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4000" y="3150000"/>
            <a:ext cx="8636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 Total papers &amp; citations with year-over-year growth trends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 Engagement levels: Level 1 (background citation) → Level 4 (foundational usage)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 Research domain distribution &amp; geographic reach across 50+ countries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 Cross-model bridge papers &amp; co-authorship networks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Data Quality &amp; Uncertainty Quantification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4000" y="850000"/>
            <a:ext cx="42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003266"/>
                </a:solidFill>
                <a:latin typeface="Calibri"/>
              </a:defRPr>
            </a:pPr>
            <a:r>
              <a:t>Multi-Agent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4000" y="1100000"/>
            <a:ext cx="414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 Team Paper Categorizer: relevance tier classification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 Crossref Agent: DOI validation &amp; venue metadata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 Semantic Scholar Agent: title recovery &amp; enrichment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 Keyword Classifier: domain-specific relevance scoring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 Deduplication Agent: DOI-first, title-fallback detection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84000" y="2600000"/>
            <a:ext cx="4140000" cy="500000"/>
          </a:xfrm>
          <a:prstGeom prst="rect">
            <a:avLst/>
          </a:prstGeom>
          <a:solidFill>
            <a:srgbClr val="E8F0F8"/>
          </a:solidFill>
          <a:ln w="6350">
            <a:solidFill>
              <a:srgbClr val="006D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4000" y="2610000"/>
            <a:ext cx="40400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03266"/>
                </a:solidFill>
                <a:latin typeface="Calibri"/>
              </a:rPr>
              <a:t>ECCO: </a:t>
            </a:r>
            <a:r>
              <a:rPr sz="900">
                <a:solidFill>
                  <a:srgbClr val="003266"/>
                </a:solidFill>
                <a:latin typeface="Calibri"/>
              </a:rPr>
              <a:t>removed ~3,900 off-topic entries; enriched 7,600+ venues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03266"/>
                </a:solidFill>
                <a:latin typeface="Calibri"/>
              </a:rPr>
              <a:t>ISSM: </a:t>
            </a:r>
            <a:r>
              <a:rPr sz="900">
                <a:solidFill>
                  <a:srgbClr val="003266"/>
                </a:solidFill>
                <a:latin typeface="Calibri"/>
              </a:rPr>
              <a:t>repaired 1,904 broken team paper titles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54000" y="850000"/>
            <a:ext cx="42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003266"/>
                </a:solidFill>
                <a:latin typeface="Calibri"/>
              </a:defRPr>
            </a:pPr>
            <a:r>
              <a:t>3-Phase Uncertainty Pipeline</a:t>
            </a:r>
          </a:p>
        </p:txBody>
      </p:sp>
      <p:pic>
        <p:nvPicPr>
          <p:cNvPr id="9" name="Picture 8" descr="uncertain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000" y="1100000"/>
            <a:ext cx="4100000" cy="617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84000" y="2400000"/>
            <a:ext cx="414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 Phase 1: Metadata completeness, keyword agreement, composite confidence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 Phase 2: Gemini 3× at temperatures [0.1, 0.5, 1.0], stochastic variance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 Phase 3: Challenges high-risk entries, override flags for disagreement ≤ 2/5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 False removal ~8-12%; false retention ~3-5%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Cross-Model Network Analysis</a:t>
            </a:r>
          </a:p>
        </p:txBody>
      </p:sp>
      <p:pic>
        <p:nvPicPr>
          <p:cNvPr id="4" name="Picture 3" descr="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000" y="800000"/>
            <a:ext cx="4100000" cy="321485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4000" y="850000"/>
            <a:ext cx="44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003266"/>
                </a:solidFill>
                <a:latin typeface="Calibri"/>
              </a:defRPr>
            </a:pPr>
            <a:r>
              <a:t>What We Compute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4000" y="1100000"/>
            <a:ext cx="430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 Bridge papers: shared citations across multiple models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 Connection matrix: pairwise model overlap counts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 Cross-model co-authorship: researchers spanning teams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 Domain overlap: shared research domain classifications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 Network graph: force-directed visualization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4000" y="2500000"/>
            <a:ext cx="44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003266"/>
                </a:solidFill>
                <a:latin typeface="Calibri"/>
              </a:defRPr>
            </a:pPr>
            <a:r>
              <a:t>Key Insights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4000" y="2750000"/>
            <a:ext cx="43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 Strongest links: ECCO ↔ ISSM (ocean-ice), CMS-Flux ↔ CARDAMOM (carbon)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 Bridge papers reveal interdisciplinary opportunities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 Identifies collaboration gaps between modeling teams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Earth System Interconnections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4000" y="780000"/>
            <a:ext cx="8636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66666"/>
                </a:solidFill>
                <a:latin typeface="Calibri"/>
              </a:defRPr>
            </a:pPr>
            <a:r>
              <a:t>Classifying all JEME publications into Earth’s five interconnected spheres</a:t>
            </a:r>
          </a:p>
        </p:txBody>
      </p:sp>
      <p:pic>
        <p:nvPicPr>
          <p:cNvPr id="5" name="Picture 4" descr="earth_sphe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000" y="1050000"/>
            <a:ext cx="4500000" cy="407976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900000" y="1050000"/>
            <a:ext cx="4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003266"/>
                </a:solidFill>
                <a:latin typeface="Calibri"/>
              </a:defRPr>
            </a:pPr>
            <a:r>
              <a:t>Analysis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0000" y="1300000"/>
            <a:ext cx="3900000" cy="2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 Keyword-based classification into spheres (multi-sphere papers counted for each)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 Inter-sphere connection matrix showing papers that bridge multiple components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 Interactive D3 force-directed graph with drag, zoom, and hover highlighting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 Model-to-sphere mapping: which JEME models contribute to which spheres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 Cross-sphere bridge papers table: highest-impact interdisciplinary research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Model Capability Level (MCL) Framework</a:t>
            </a:r>
          </a:p>
        </p:txBody>
      </p:sp>
      <p:pic>
        <p:nvPicPr>
          <p:cNvPr id="4" name="Picture 3" descr="mcl_herit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00" y="800000"/>
            <a:ext cx="8800000" cy="262831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4000" y="2100000"/>
            <a:ext cx="41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003266"/>
                </a:solidFill>
                <a:latin typeface="Calibri"/>
              </a:defRPr>
            </a:pPr>
            <a:r>
              <a:t>Tier 1: Core Capabilities (14 dimensions)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4000" y="2330000"/>
            <a:ext cx="404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 Process Representation, Spatial &amp; Temporal Resolution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 Process Coupling, Predictive Skill, Computational Performance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 Observational Constraint, Retrospective Analysis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 UQ &amp; Attribution, V&amp;V Framework, ML/AI Integration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 Mission Support, Interoperability, Stakeholder Adoption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54000" y="2100000"/>
            <a:ext cx="41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003266"/>
                </a:solidFill>
                <a:latin typeface="Calibri"/>
              </a:defRPr>
            </a:pPr>
            <a:r>
              <a:t>Tier 2: Application Domains (5 × 4 sub-dims)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4000" y="2330000"/>
            <a:ext cx="404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 Research: process fidelity, coupling, community impact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 Data Assimilation: observational coverage, operational use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 VVUQ/ML: verification, AI integration, emulator validation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 Mission Support: OSSEs, DA readiness, Decadal Survey alignment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 Decision Support: usability, regulatory relevance, UQ communication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4000" y="3900000"/>
            <a:ext cx="12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03266"/>
                </a:solidFill>
                <a:latin typeface="Calibri"/>
              </a:defRPr>
            </a:pPr>
            <a:r>
              <a:t>Scoring Scale: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54000" y="3900000"/>
            <a:ext cx="1600000" cy="250000"/>
          </a:xfrm>
          <a:prstGeom prst="round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Level 0 — None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34000" y="3900000"/>
            <a:ext cx="1600000" cy="250000"/>
          </a:xfrm>
          <a:prstGeom prst="roundRect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Level 1 — 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14000" y="3900000"/>
            <a:ext cx="1600000" cy="25000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333333"/>
                </a:solidFill>
                <a:latin typeface="Calibri"/>
              </a:defRPr>
            </a:pPr>
            <a:r>
              <a:t>Level 2 — Medium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94000" y="3900000"/>
            <a:ext cx="1600000" cy="25000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Level 3 — High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MCL Results: Tier 1 Capability Heatmap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80000" y="850000"/>
            <a:ext cx="720000" cy="450000"/>
          </a:xfrm>
          <a:prstGeom prst="rect">
            <a:avLst/>
          </a:prstGeom>
          <a:solidFill>
            <a:srgbClr val="0032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850000"/>
            <a:ext cx="530000" cy="450000"/>
          </a:xfrm>
          <a:prstGeom prst="rect">
            <a:avLst/>
          </a:prstGeom>
          <a:solidFill>
            <a:srgbClr val="0032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1">
                <a:solidFill>
                  <a:srgbClr val="FFFFFF"/>
                </a:solidFill>
                <a:latin typeface="Calibri"/>
              </a:defRPr>
            </a:pPr>
            <a:r>
              <a:t>Proc</a:t>
            </a:r>
            <a:br/>
            <a:r>
              <a:t>Repr</a:t>
            </a:r>
          </a:p>
        </p:txBody>
      </p:sp>
      <p:sp>
        <p:nvSpPr>
          <p:cNvPr id="6" name="Rectangle 5"/>
          <p:cNvSpPr/>
          <p:nvPr/>
        </p:nvSpPr>
        <p:spPr>
          <a:xfrm>
            <a:off x="1330000" y="850000"/>
            <a:ext cx="530000" cy="450000"/>
          </a:xfrm>
          <a:prstGeom prst="rect">
            <a:avLst/>
          </a:prstGeom>
          <a:solidFill>
            <a:srgbClr val="0032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1">
                <a:solidFill>
                  <a:srgbClr val="FFFFFF"/>
                </a:solidFill>
                <a:latin typeface="Calibri"/>
              </a:defRPr>
            </a:pPr>
            <a:r>
              <a:t>Spatial</a:t>
            </a:r>
            <a:br/>
            <a:r>
              <a:t>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1860000" y="850000"/>
            <a:ext cx="530000" cy="450000"/>
          </a:xfrm>
          <a:prstGeom prst="rect">
            <a:avLst/>
          </a:prstGeom>
          <a:solidFill>
            <a:srgbClr val="0032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1">
                <a:solidFill>
                  <a:srgbClr val="FFFFFF"/>
                </a:solidFill>
                <a:latin typeface="Calibri"/>
              </a:defRPr>
            </a:pPr>
            <a:r>
              <a:t>Temp</a:t>
            </a:r>
            <a:br/>
            <a:r>
              <a:t>Res</a:t>
            </a:r>
          </a:p>
        </p:txBody>
      </p:sp>
      <p:sp>
        <p:nvSpPr>
          <p:cNvPr id="8" name="Rectangle 7"/>
          <p:cNvSpPr/>
          <p:nvPr/>
        </p:nvSpPr>
        <p:spPr>
          <a:xfrm>
            <a:off x="2390000" y="850000"/>
            <a:ext cx="530000" cy="450000"/>
          </a:xfrm>
          <a:prstGeom prst="rect">
            <a:avLst/>
          </a:prstGeom>
          <a:solidFill>
            <a:srgbClr val="0032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1">
                <a:solidFill>
                  <a:srgbClr val="FFFFFF"/>
                </a:solidFill>
                <a:latin typeface="Calibri"/>
              </a:defRPr>
            </a:pPr>
            <a:r>
              <a:t>Proc</a:t>
            </a:r>
            <a:br/>
            <a:r>
              <a:t>Coup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0000" y="850000"/>
            <a:ext cx="530000" cy="450000"/>
          </a:xfrm>
          <a:prstGeom prst="rect">
            <a:avLst/>
          </a:prstGeom>
          <a:solidFill>
            <a:srgbClr val="0032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1">
                <a:solidFill>
                  <a:srgbClr val="FFFFFF"/>
                </a:solidFill>
                <a:latin typeface="Calibri"/>
              </a:defRPr>
            </a:pPr>
            <a:r>
              <a:t>Pred</a:t>
            </a:r>
            <a:br/>
            <a:r>
              <a:t>Skill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50000" y="850000"/>
            <a:ext cx="530000" cy="450000"/>
          </a:xfrm>
          <a:prstGeom prst="rect">
            <a:avLst/>
          </a:prstGeom>
          <a:solidFill>
            <a:srgbClr val="0032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1">
                <a:solidFill>
                  <a:srgbClr val="FFFFFF"/>
                </a:solidFill>
                <a:latin typeface="Calibri"/>
              </a:defRPr>
            </a:pPr>
            <a:r>
              <a:t>Comp</a:t>
            </a:r>
            <a:br/>
            <a:r>
              <a:t>Perf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80000" y="850000"/>
            <a:ext cx="530000" cy="450000"/>
          </a:xfrm>
          <a:prstGeom prst="rect">
            <a:avLst/>
          </a:prstGeom>
          <a:solidFill>
            <a:srgbClr val="0032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1">
                <a:solidFill>
                  <a:srgbClr val="FFFFFF"/>
                </a:solidFill>
                <a:latin typeface="Calibri"/>
              </a:defRPr>
            </a:pPr>
            <a:r>
              <a:t>Obs</a:t>
            </a:r>
            <a:br/>
            <a:r>
              <a:t>Const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10000" y="850000"/>
            <a:ext cx="530000" cy="450000"/>
          </a:xfrm>
          <a:prstGeom prst="rect">
            <a:avLst/>
          </a:prstGeom>
          <a:solidFill>
            <a:srgbClr val="0032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1">
                <a:solidFill>
                  <a:srgbClr val="FFFFFF"/>
                </a:solidFill>
                <a:latin typeface="Calibri"/>
              </a:defRPr>
            </a:pPr>
            <a:r>
              <a:t>Retro</a:t>
            </a:r>
            <a:br/>
            <a:r>
              <a:t>Anal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40000" y="850000"/>
            <a:ext cx="530000" cy="450000"/>
          </a:xfrm>
          <a:prstGeom prst="rect">
            <a:avLst/>
          </a:prstGeom>
          <a:solidFill>
            <a:srgbClr val="0032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1">
                <a:solidFill>
                  <a:srgbClr val="FFFFFF"/>
                </a:solidFill>
                <a:latin typeface="Calibri"/>
              </a:defRPr>
            </a:pPr>
            <a:r>
              <a:t>UQ&amp;</a:t>
            </a:r>
            <a:br/>
            <a:r>
              <a:t>Attr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70000" y="850000"/>
            <a:ext cx="530000" cy="450000"/>
          </a:xfrm>
          <a:prstGeom prst="rect">
            <a:avLst/>
          </a:prstGeom>
          <a:solidFill>
            <a:srgbClr val="0032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1">
                <a:solidFill>
                  <a:srgbClr val="FFFFFF"/>
                </a:solidFill>
                <a:latin typeface="Calibri"/>
              </a:defRPr>
            </a:pPr>
            <a:r>
              <a:t>V&amp;V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00000" y="850000"/>
            <a:ext cx="530000" cy="450000"/>
          </a:xfrm>
          <a:prstGeom prst="rect">
            <a:avLst/>
          </a:prstGeom>
          <a:solidFill>
            <a:srgbClr val="0032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1">
                <a:solidFill>
                  <a:srgbClr val="FFFFFF"/>
                </a:solidFill>
                <a:latin typeface="Calibri"/>
              </a:defRPr>
            </a:pPr>
            <a:r>
              <a:t>ML/AI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30000" y="850000"/>
            <a:ext cx="530000" cy="450000"/>
          </a:xfrm>
          <a:prstGeom prst="rect">
            <a:avLst/>
          </a:prstGeom>
          <a:solidFill>
            <a:srgbClr val="0032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1">
                <a:solidFill>
                  <a:srgbClr val="FFFFFF"/>
                </a:solidFill>
                <a:latin typeface="Calibri"/>
              </a:defRPr>
            </a:pPr>
            <a:r>
              <a:t>Mission</a:t>
            </a:r>
            <a:br/>
            <a:r>
              <a:t>Supp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60000" y="850000"/>
            <a:ext cx="530000" cy="450000"/>
          </a:xfrm>
          <a:prstGeom prst="rect">
            <a:avLst/>
          </a:prstGeom>
          <a:solidFill>
            <a:srgbClr val="0032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1">
                <a:solidFill>
                  <a:srgbClr val="FFFFFF"/>
                </a:solidFill>
                <a:latin typeface="Calibri"/>
              </a:defRPr>
            </a:pPr>
            <a:r>
              <a:t>Inter-</a:t>
            </a:r>
            <a:br/>
            <a:r>
              <a:t>op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90000" y="850000"/>
            <a:ext cx="530000" cy="450000"/>
          </a:xfrm>
          <a:prstGeom prst="rect">
            <a:avLst/>
          </a:prstGeom>
          <a:solidFill>
            <a:srgbClr val="0032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1">
                <a:solidFill>
                  <a:srgbClr val="FFFFFF"/>
                </a:solidFill>
                <a:latin typeface="Calibri"/>
              </a:defRPr>
            </a:pPr>
            <a:r>
              <a:t>Stake</a:t>
            </a:r>
            <a:br/>
            <a:r>
              <a:t>Adopt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0000" y="850000"/>
            <a:ext cx="530000" cy="450000"/>
          </a:xfrm>
          <a:prstGeom prst="rect">
            <a:avLst/>
          </a:prstGeom>
          <a:solidFill>
            <a:srgbClr val="00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Avg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" y="1300000"/>
            <a:ext cx="720000" cy="350000"/>
          </a:xfrm>
          <a:prstGeom prst="rect">
            <a:avLst/>
          </a:prstGeom>
          <a:solidFill>
            <a:srgbClr val="0032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ECCO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0000" y="1300000"/>
            <a:ext cx="530000" cy="350000"/>
          </a:xfrm>
          <a:prstGeom prst="rect">
            <a:avLst/>
          </a:prstGeom>
          <a:solidFill>
            <a:srgbClr val="66BB6A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30000" y="1300000"/>
            <a:ext cx="530000" cy="350000"/>
          </a:xfrm>
          <a:prstGeom prst="rect">
            <a:avLst/>
          </a:prstGeom>
          <a:solidFill>
            <a:srgbClr val="FFD54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60000" y="1300000"/>
            <a:ext cx="530000" cy="350000"/>
          </a:xfrm>
          <a:prstGeom prst="rect">
            <a:avLst/>
          </a:prstGeom>
          <a:solidFill>
            <a:srgbClr val="66BB6A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90000" y="1300000"/>
            <a:ext cx="530000" cy="350000"/>
          </a:xfrm>
          <a:prstGeom prst="rect">
            <a:avLst/>
          </a:prstGeom>
          <a:solidFill>
            <a:srgbClr val="FFD54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20000" y="1300000"/>
            <a:ext cx="530000" cy="350000"/>
          </a:xfrm>
          <a:prstGeom prst="rect">
            <a:avLst/>
          </a:prstGeom>
          <a:solidFill>
            <a:srgbClr val="66BB6A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50000" y="1300000"/>
            <a:ext cx="530000" cy="350000"/>
          </a:xfrm>
          <a:prstGeom prst="rect">
            <a:avLst/>
          </a:prstGeom>
          <a:solidFill>
            <a:srgbClr val="FFD54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80000" y="1300000"/>
            <a:ext cx="530000" cy="350000"/>
          </a:xfrm>
          <a:prstGeom prst="rect">
            <a:avLst/>
          </a:prstGeom>
          <a:solidFill>
            <a:srgbClr val="66BB6A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10000" y="1300000"/>
            <a:ext cx="530000" cy="350000"/>
          </a:xfrm>
          <a:prstGeom prst="rect">
            <a:avLst/>
          </a:prstGeom>
          <a:solidFill>
            <a:srgbClr val="66BB6A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40000" y="1300000"/>
            <a:ext cx="530000" cy="350000"/>
          </a:xfrm>
          <a:prstGeom prst="rect">
            <a:avLst/>
          </a:prstGeom>
          <a:solidFill>
            <a:srgbClr val="FFD54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70000" y="1300000"/>
            <a:ext cx="530000" cy="350000"/>
          </a:xfrm>
          <a:prstGeom prst="rect">
            <a:avLst/>
          </a:prstGeom>
          <a:solidFill>
            <a:srgbClr val="66BB6A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00000" y="1300000"/>
            <a:ext cx="530000" cy="350000"/>
          </a:xfrm>
          <a:prstGeom prst="rect">
            <a:avLst/>
          </a:prstGeom>
          <a:solidFill>
            <a:srgbClr val="FFA726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30000" y="1300000"/>
            <a:ext cx="530000" cy="350000"/>
          </a:xfrm>
          <a:prstGeom prst="rect">
            <a:avLst/>
          </a:prstGeom>
          <a:solidFill>
            <a:srgbClr val="66BB6A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60000" y="1300000"/>
            <a:ext cx="530000" cy="350000"/>
          </a:xfrm>
          <a:prstGeom prst="rect">
            <a:avLst/>
          </a:prstGeom>
          <a:solidFill>
            <a:srgbClr val="66BB6A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690000" y="1300000"/>
            <a:ext cx="530000" cy="350000"/>
          </a:xfrm>
          <a:prstGeom prst="rect">
            <a:avLst/>
          </a:prstGeom>
          <a:solidFill>
            <a:srgbClr val="FFD54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0000" y="1300000"/>
            <a:ext cx="530000" cy="350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003266"/>
                </a:solidFill>
                <a:latin typeface="Calibri"/>
              </a:defRPr>
            </a:pPr>
            <a:r>
              <a:t>2.5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000" y="1650000"/>
            <a:ext cx="720000" cy="350000"/>
          </a:xfrm>
          <a:prstGeom prst="rect">
            <a:avLst/>
          </a:prstGeom>
          <a:solidFill>
            <a:srgbClr val="0032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ISSM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0000" y="1650000"/>
            <a:ext cx="530000" cy="350000"/>
          </a:xfrm>
          <a:prstGeom prst="rect">
            <a:avLst/>
          </a:prstGeom>
          <a:solidFill>
            <a:srgbClr val="66BB6A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330000" y="1650000"/>
            <a:ext cx="530000" cy="350000"/>
          </a:xfrm>
          <a:prstGeom prst="rect">
            <a:avLst/>
          </a:prstGeom>
          <a:solidFill>
            <a:srgbClr val="66BB6A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860000" y="1650000"/>
            <a:ext cx="530000" cy="350000"/>
          </a:xfrm>
          <a:prstGeom prst="rect">
            <a:avLst/>
          </a:prstGeom>
          <a:solidFill>
            <a:srgbClr val="FFD54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390000" y="1650000"/>
            <a:ext cx="530000" cy="350000"/>
          </a:xfrm>
          <a:prstGeom prst="rect">
            <a:avLst/>
          </a:prstGeom>
          <a:solidFill>
            <a:srgbClr val="66BB6A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920000" y="1650000"/>
            <a:ext cx="530000" cy="350000"/>
          </a:xfrm>
          <a:prstGeom prst="rect">
            <a:avLst/>
          </a:prstGeom>
          <a:solidFill>
            <a:srgbClr val="FFD54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450000" y="1650000"/>
            <a:ext cx="530000" cy="350000"/>
          </a:xfrm>
          <a:prstGeom prst="rect">
            <a:avLst/>
          </a:prstGeom>
          <a:solidFill>
            <a:srgbClr val="FFD54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980000" y="1650000"/>
            <a:ext cx="530000" cy="350000"/>
          </a:xfrm>
          <a:prstGeom prst="rect">
            <a:avLst/>
          </a:prstGeom>
          <a:solidFill>
            <a:srgbClr val="FFD54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10000" y="1650000"/>
            <a:ext cx="530000" cy="350000"/>
          </a:xfrm>
          <a:prstGeom prst="rect">
            <a:avLst/>
          </a:prstGeom>
          <a:solidFill>
            <a:srgbClr val="FFD54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40000" y="1650000"/>
            <a:ext cx="530000" cy="350000"/>
          </a:xfrm>
          <a:prstGeom prst="rect">
            <a:avLst/>
          </a:prstGeom>
          <a:solidFill>
            <a:srgbClr val="FFD54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570000" y="1650000"/>
            <a:ext cx="530000" cy="350000"/>
          </a:xfrm>
          <a:prstGeom prst="rect">
            <a:avLst/>
          </a:prstGeom>
          <a:solidFill>
            <a:srgbClr val="66BB6A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00000" y="1650000"/>
            <a:ext cx="530000" cy="350000"/>
          </a:xfrm>
          <a:prstGeom prst="rect">
            <a:avLst/>
          </a:prstGeom>
          <a:solidFill>
            <a:srgbClr val="FFA726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30000" y="1650000"/>
            <a:ext cx="530000" cy="350000"/>
          </a:xfrm>
          <a:prstGeom prst="rect">
            <a:avLst/>
          </a:prstGeom>
          <a:solidFill>
            <a:srgbClr val="FFD54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160000" y="1650000"/>
            <a:ext cx="530000" cy="350000"/>
          </a:xfrm>
          <a:prstGeom prst="rect">
            <a:avLst/>
          </a:prstGeom>
          <a:solidFill>
            <a:srgbClr val="66BB6A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690000" y="1650000"/>
            <a:ext cx="530000" cy="350000"/>
          </a:xfrm>
          <a:prstGeom prst="rect">
            <a:avLst/>
          </a:prstGeom>
          <a:solidFill>
            <a:srgbClr val="FFD54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220000" y="1650000"/>
            <a:ext cx="530000" cy="350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003266"/>
                </a:solidFill>
                <a:latin typeface="Calibri"/>
              </a:defRPr>
            </a:pPr>
            <a:r>
              <a:t>2.3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0000" y="2000000"/>
            <a:ext cx="720000" cy="350000"/>
          </a:xfrm>
          <a:prstGeom prst="rect">
            <a:avLst/>
          </a:prstGeom>
          <a:solidFill>
            <a:srgbClr val="0032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CMS-Flux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00000" y="2000000"/>
            <a:ext cx="530000" cy="350000"/>
          </a:xfrm>
          <a:prstGeom prst="rect">
            <a:avLst/>
          </a:prstGeom>
          <a:solidFill>
            <a:srgbClr val="FFD54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330000" y="2000000"/>
            <a:ext cx="530000" cy="350000"/>
          </a:xfrm>
          <a:prstGeom prst="rect">
            <a:avLst/>
          </a:prstGeom>
          <a:solidFill>
            <a:srgbClr val="FFD54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860000" y="2000000"/>
            <a:ext cx="530000" cy="350000"/>
          </a:xfrm>
          <a:prstGeom prst="rect">
            <a:avLst/>
          </a:prstGeom>
          <a:solidFill>
            <a:srgbClr val="FFD54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390000" y="2000000"/>
            <a:ext cx="530000" cy="350000"/>
          </a:xfrm>
          <a:prstGeom prst="rect">
            <a:avLst/>
          </a:prstGeom>
          <a:solidFill>
            <a:srgbClr val="FFA726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920000" y="2000000"/>
            <a:ext cx="530000" cy="350000"/>
          </a:xfrm>
          <a:prstGeom prst="rect">
            <a:avLst/>
          </a:prstGeom>
          <a:solidFill>
            <a:srgbClr val="FFD54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450000" y="2000000"/>
            <a:ext cx="530000" cy="350000"/>
          </a:xfrm>
          <a:prstGeom prst="rect">
            <a:avLst/>
          </a:prstGeom>
          <a:solidFill>
            <a:srgbClr val="FFA726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980000" y="2000000"/>
            <a:ext cx="530000" cy="350000"/>
          </a:xfrm>
          <a:prstGeom prst="rect">
            <a:avLst/>
          </a:prstGeom>
          <a:solidFill>
            <a:srgbClr val="66BB6A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10000" y="2000000"/>
            <a:ext cx="530000" cy="350000"/>
          </a:xfrm>
          <a:prstGeom prst="rect">
            <a:avLst/>
          </a:prstGeom>
          <a:solidFill>
            <a:srgbClr val="FFD54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040000" y="2000000"/>
            <a:ext cx="530000" cy="350000"/>
          </a:xfrm>
          <a:prstGeom prst="rect">
            <a:avLst/>
          </a:prstGeom>
          <a:solidFill>
            <a:srgbClr val="FFD54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570000" y="2000000"/>
            <a:ext cx="530000" cy="350000"/>
          </a:xfrm>
          <a:prstGeom prst="rect">
            <a:avLst/>
          </a:prstGeom>
          <a:solidFill>
            <a:srgbClr val="FFD54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100000" y="2000000"/>
            <a:ext cx="530000" cy="350000"/>
          </a:xfrm>
          <a:prstGeom prst="rect">
            <a:avLst/>
          </a:prstGeom>
          <a:solidFill>
            <a:srgbClr val="FFA726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630000" y="2000000"/>
            <a:ext cx="530000" cy="350000"/>
          </a:xfrm>
          <a:prstGeom prst="rect">
            <a:avLst/>
          </a:prstGeom>
          <a:solidFill>
            <a:srgbClr val="FFD54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160000" y="2000000"/>
            <a:ext cx="530000" cy="350000"/>
          </a:xfrm>
          <a:prstGeom prst="rect">
            <a:avLst/>
          </a:prstGeom>
          <a:solidFill>
            <a:srgbClr val="FFD54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690000" y="2000000"/>
            <a:ext cx="530000" cy="350000"/>
          </a:xfrm>
          <a:prstGeom prst="rect">
            <a:avLst/>
          </a:prstGeom>
          <a:solidFill>
            <a:srgbClr val="FFD54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220000" y="2000000"/>
            <a:ext cx="530000" cy="350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003266"/>
                </a:solidFill>
                <a:latin typeface="Calibri"/>
              </a:defRPr>
            </a:pPr>
            <a:r>
              <a:t>1.9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0000" y="2350000"/>
            <a:ext cx="720000" cy="350000"/>
          </a:xfrm>
          <a:prstGeom prst="rect">
            <a:avLst/>
          </a:prstGeom>
          <a:solidFill>
            <a:srgbClr val="0032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RAPID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00000" y="2350000"/>
            <a:ext cx="530000" cy="350000"/>
          </a:xfrm>
          <a:prstGeom prst="rect">
            <a:avLst/>
          </a:prstGeom>
          <a:solidFill>
            <a:srgbClr val="FFD54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330000" y="2350000"/>
            <a:ext cx="530000" cy="350000"/>
          </a:xfrm>
          <a:prstGeom prst="rect">
            <a:avLst/>
          </a:prstGeom>
          <a:solidFill>
            <a:srgbClr val="FFD54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860000" y="2350000"/>
            <a:ext cx="530000" cy="350000"/>
          </a:xfrm>
          <a:prstGeom prst="rect">
            <a:avLst/>
          </a:prstGeom>
          <a:solidFill>
            <a:srgbClr val="FFD54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390000" y="2350000"/>
            <a:ext cx="530000" cy="350000"/>
          </a:xfrm>
          <a:prstGeom prst="rect">
            <a:avLst/>
          </a:prstGeom>
          <a:solidFill>
            <a:srgbClr val="FFD54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920000" y="2350000"/>
            <a:ext cx="530000" cy="350000"/>
          </a:xfrm>
          <a:prstGeom prst="rect">
            <a:avLst/>
          </a:prstGeom>
          <a:solidFill>
            <a:srgbClr val="FFD54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450000" y="2350000"/>
            <a:ext cx="530000" cy="350000"/>
          </a:xfrm>
          <a:prstGeom prst="rect">
            <a:avLst/>
          </a:prstGeom>
          <a:solidFill>
            <a:srgbClr val="FFD54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980000" y="2350000"/>
            <a:ext cx="530000" cy="350000"/>
          </a:xfrm>
          <a:prstGeom prst="rect">
            <a:avLst/>
          </a:prstGeom>
          <a:solidFill>
            <a:srgbClr val="FFD54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510000" y="2350000"/>
            <a:ext cx="530000" cy="350000"/>
          </a:xfrm>
          <a:prstGeom prst="rect">
            <a:avLst/>
          </a:prstGeom>
          <a:solidFill>
            <a:srgbClr val="FFD54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040000" y="2350000"/>
            <a:ext cx="530000" cy="350000"/>
          </a:xfrm>
          <a:prstGeom prst="rect">
            <a:avLst/>
          </a:prstGeom>
          <a:solidFill>
            <a:srgbClr val="FFA726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570000" y="2350000"/>
            <a:ext cx="530000" cy="350000"/>
          </a:xfrm>
          <a:prstGeom prst="rect">
            <a:avLst/>
          </a:prstGeom>
          <a:solidFill>
            <a:srgbClr val="FFD54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100000" y="2350000"/>
            <a:ext cx="530000" cy="350000"/>
          </a:xfrm>
          <a:prstGeom prst="rect">
            <a:avLst/>
          </a:prstGeom>
          <a:solidFill>
            <a:srgbClr val="FFA726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630000" y="2350000"/>
            <a:ext cx="530000" cy="350000"/>
          </a:xfrm>
          <a:prstGeom prst="rect">
            <a:avLst/>
          </a:prstGeom>
          <a:solidFill>
            <a:srgbClr val="FFD54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160000" y="2350000"/>
            <a:ext cx="530000" cy="350000"/>
          </a:xfrm>
          <a:prstGeom prst="rect">
            <a:avLst/>
          </a:prstGeom>
          <a:solidFill>
            <a:srgbClr val="66BB6A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690000" y="2350000"/>
            <a:ext cx="530000" cy="350000"/>
          </a:xfrm>
          <a:prstGeom prst="rect">
            <a:avLst/>
          </a:prstGeom>
          <a:solidFill>
            <a:srgbClr val="FFD54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220000" y="2350000"/>
            <a:ext cx="530000" cy="350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003266"/>
                </a:solidFill>
                <a:latin typeface="Calibri"/>
              </a:defRPr>
            </a:pPr>
            <a:r>
              <a:t>1.9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0000" y="2700000"/>
            <a:ext cx="720000" cy="350000"/>
          </a:xfrm>
          <a:prstGeom prst="rect">
            <a:avLst/>
          </a:prstGeom>
          <a:solidFill>
            <a:srgbClr val="0032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CARDAMOM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00000" y="2700000"/>
            <a:ext cx="530000" cy="350000"/>
          </a:xfrm>
          <a:prstGeom prst="rect">
            <a:avLst/>
          </a:prstGeom>
          <a:solidFill>
            <a:srgbClr val="FFD54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330000" y="2700000"/>
            <a:ext cx="530000" cy="350000"/>
          </a:xfrm>
          <a:prstGeom prst="rect">
            <a:avLst/>
          </a:prstGeom>
          <a:solidFill>
            <a:srgbClr val="FFA726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860000" y="2700000"/>
            <a:ext cx="530000" cy="350000"/>
          </a:xfrm>
          <a:prstGeom prst="rect">
            <a:avLst/>
          </a:prstGeom>
          <a:solidFill>
            <a:srgbClr val="FFD54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390000" y="2700000"/>
            <a:ext cx="530000" cy="350000"/>
          </a:xfrm>
          <a:prstGeom prst="rect">
            <a:avLst/>
          </a:prstGeom>
          <a:solidFill>
            <a:srgbClr val="FFA726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920000" y="2700000"/>
            <a:ext cx="530000" cy="350000"/>
          </a:xfrm>
          <a:prstGeom prst="rect">
            <a:avLst/>
          </a:prstGeom>
          <a:solidFill>
            <a:srgbClr val="FFD54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450000" y="2700000"/>
            <a:ext cx="530000" cy="350000"/>
          </a:xfrm>
          <a:prstGeom prst="rect">
            <a:avLst/>
          </a:prstGeom>
          <a:solidFill>
            <a:srgbClr val="FFA726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980000" y="2700000"/>
            <a:ext cx="530000" cy="350000"/>
          </a:xfrm>
          <a:prstGeom prst="rect">
            <a:avLst/>
          </a:prstGeom>
          <a:solidFill>
            <a:srgbClr val="FFD54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510000" y="2700000"/>
            <a:ext cx="530000" cy="350000"/>
          </a:xfrm>
          <a:prstGeom prst="rect">
            <a:avLst/>
          </a:prstGeom>
          <a:solidFill>
            <a:srgbClr val="FFD54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040000" y="2700000"/>
            <a:ext cx="530000" cy="350000"/>
          </a:xfrm>
          <a:prstGeom prst="rect">
            <a:avLst/>
          </a:prstGeom>
          <a:solidFill>
            <a:srgbClr val="66BB6A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570000" y="2700000"/>
            <a:ext cx="530000" cy="350000"/>
          </a:xfrm>
          <a:prstGeom prst="rect">
            <a:avLst/>
          </a:prstGeom>
          <a:solidFill>
            <a:srgbClr val="FFD54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100000" y="2700000"/>
            <a:ext cx="530000" cy="350000"/>
          </a:xfrm>
          <a:prstGeom prst="rect">
            <a:avLst/>
          </a:prstGeom>
          <a:solidFill>
            <a:srgbClr val="FFA726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630000" y="2700000"/>
            <a:ext cx="530000" cy="350000"/>
          </a:xfrm>
          <a:prstGeom prst="rect">
            <a:avLst/>
          </a:prstGeom>
          <a:solidFill>
            <a:srgbClr val="FFA726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160000" y="2700000"/>
            <a:ext cx="530000" cy="350000"/>
          </a:xfrm>
          <a:prstGeom prst="rect">
            <a:avLst/>
          </a:prstGeom>
          <a:solidFill>
            <a:srgbClr val="FFD54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690000" y="2700000"/>
            <a:ext cx="530000" cy="350000"/>
          </a:xfrm>
          <a:prstGeom prst="rect">
            <a:avLst/>
          </a:prstGeom>
          <a:solidFill>
            <a:srgbClr val="FFA726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220000" y="2700000"/>
            <a:ext cx="530000" cy="350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003266"/>
                </a:solidFill>
                <a:latin typeface="Calibri"/>
              </a:defRPr>
            </a:pPr>
            <a:r>
              <a:t>1.6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0000" y="3050000"/>
            <a:ext cx="720000" cy="350000"/>
          </a:xfrm>
          <a:prstGeom prst="rect">
            <a:avLst/>
          </a:prstGeom>
          <a:solidFill>
            <a:srgbClr val="0032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MOMO-CHEM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00000" y="3050000"/>
            <a:ext cx="530000" cy="350000"/>
          </a:xfrm>
          <a:prstGeom prst="rect">
            <a:avLst/>
          </a:prstGeom>
          <a:solidFill>
            <a:srgbClr val="FFD54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330000" y="3050000"/>
            <a:ext cx="530000" cy="350000"/>
          </a:xfrm>
          <a:prstGeom prst="rect">
            <a:avLst/>
          </a:prstGeom>
          <a:solidFill>
            <a:srgbClr val="FFD54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860000" y="3050000"/>
            <a:ext cx="530000" cy="350000"/>
          </a:xfrm>
          <a:prstGeom prst="rect">
            <a:avLst/>
          </a:prstGeom>
          <a:solidFill>
            <a:srgbClr val="FFD54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2390000" y="3050000"/>
            <a:ext cx="530000" cy="350000"/>
          </a:xfrm>
          <a:prstGeom prst="rect">
            <a:avLst/>
          </a:prstGeom>
          <a:solidFill>
            <a:srgbClr val="FFD54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920000" y="3050000"/>
            <a:ext cx="530000" cy="350000"/>
          </a:xfrm>
          <a:prstGeom prst="rect">
            <a:avLst/>
          </a:prstGeom>
          <a:solidFill>
            <a:srgbClr val="FFD54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450000" y="3050000"/>
            <a:ext cx="530000" cy="350000"/>
          </a:xfrm>
          <a:prstGeom prst="rect">
            <a:avLst/>
          </a:prstGeom>
          <a:solidFill>
            <a:srgbClr val="FFA726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3980000" y="3050000"/>
            <a:ext cx="530000" cy="350000"/>
          </a:xfrm>
          <a:prstGeom prst="rect">
            <a:avLst/>
          </a:prstGeom>
          <a:solidFill>
            <a:srgbClr val="FFD54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510000" y="3050000"/>
            <a:ext cx="530000" cy="350000"/>
          </a:xfrm>
          <a:prstGeom prst="rect">
            <a:avLst/>
          </a:prstGeom>
          <a:solidFill>
            <a:srgbClr val="FFD54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040000" y="3050000"/>
            <a:ext cx="530000" cy="350000"/>
          </a:xfrm>
          <a:prstGeom prst="rect">
            <a:avLst/>
          </a:prstGeom>
          <a:solidFill>
            <a:srgbClr val="FFD54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570000" y="3050000"/>
            <a:ext cx="530000" cy="350000"/>
          </a:xfrm>
          <a:prstGeom prst="rect">
            <a:avLst/>
          </a:prstGeom>
          <a:solidFill>
            <a:srgbClr val="FFD54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100000" y="3050000"/>
            <a:ext cx="530000" cy="350000"/>
          </a:xfrm>
          <a:prstGeom prst="rect">
            <a:avLst/>
          </a:prstGeom>
          <a:solidFill>
            <a:srgbClr val="EF5350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630000" y="3050000"/>
            <a:ext cx="530000" cy="350000"/>
          </a:xfrm>
          <a:prstGeom prst="rect">
            <a:avLst/>
          </a:prstGeom>
          <a:solidFill>
            <a:srgbClr val="FFA726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160000" y="3050000"/>
            <a:ext cx="530000" cy="350000"/>
          </a:xfrm>
          <a:prstGeom prst="rect">
            <a:avLst/>
          </a:prstGeom>
          <a:solidFill>
            <a:srgbClr val="FFA726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690000" y="3050000"/>
            <a:ext cx="530000" cy="350000"/>
          </a:xfrm>
          <a:prstGeom prst="rect">
            <a:avLst/>
          </a:prstGeom>
          <a:solidFill>
            <a:srgbClr val="FFA726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220000" y="3050000"/>
            <a:ext cx="530000" cy="350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003266"/>
                </a:solidFill>
                <a:latin typeface="Calibri"/>
              </a:defRPr>
            </a:pPr>
            <a:r>
              <a:t>1.6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80000" y="3400000"/>
            <a:ext cx="720000" cy="350000"/>
          </a:xfrm>
          <a:prstGeom prst="rect">
            <a:avLst/>
          </a:prstGeom>
          <a:solidFill>
            <a:srgbClr val="0032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LES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800000" y="3400000"/>
            <a:ext cx="530000" cy="350000"/>
          </a:xfrm>
          <a:prstGeom prst="rect">
            <a:avLst/>
          </a:prstGeom>
          <a:solidFill>
            <a:srgbClr val="66BB6A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330000" y="3400000"/>
            <a:ext cx="530000" cy="350000"/>
          </a:xfrm>
          <a:prstGeom prst="rect">
            <a:avLst/>
          </a:prstGeom>
          <a:solidFill>
            <a:srgbClr val="66BB6A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860000" y="3400000"/>
            <a:ext cx="530000" cy="350000"/>
          </a:xfrm>
          <a:prstGeom prst="rect">
            <a:avLst/>
          </a:prstGeom>
          <a:solidFill>
            <a:srgbClr val="FFD54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2390000" y="3400000"/>
            <a:ext cx="530000" cy="350000"/>
          </a:xfrm>
          <a:prstGeom prst="rect">
            <a:avLst/>
          </a:prstGeom>
          <a:solidFill>
            <a:srgbClr val="FFA726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2920000" y="3400000"/>
            <a:ext cx="530000" cy="350000"/>
          </a:xfrm>
          <a:prstGeom prst="rect">
            <a:avLst/>
          </a:prstGeom>
          <a:solidFill>
            <a:srgbClr val="FFA726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3450000" y="3400000"/>
            <a:ext cx="530000" cy="350000"/>
          </a:xfrm>
          <a:prstGeom prst="rect">
            <a:avLst/>
          </a:prstGeom>
          <a:solidFill>
            <a:srgbClr val="FFD54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3980000" y="3400000"/>
            <a:ext cx="530000" cy="350000"/>
          </a:xfrm>
          <a:prstGeom prst="rect">
            <a:avLst/>
          </a:prstGeom>
          <a:solidFill>
            <a:srgbClr val="FFA726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4510000" y="3400000"/>
            <a:ext cx="530000" cy="350000"/>
          </a:xfrm>
          <a:prstGeom prst="rect">
            <a:avLst/>
          </a:prstGeom>
          <a:solidFill>
            <a:srgbClr val="EF5350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5040000" y="3400000"/>
            <a:ext cx="530000" cy="350000"/>
          </a:xfrm>
          <a:prstGeom prst="rect">
            <a:avLst/>
          </a:prstGeom>
          <a:solidFill>
            <a:srgbClr val="FFA726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5570000" y="3400000"/>
            <a:ext cx="530000" cy="350000"/>
          </a:xfrm>
          <a:prstGeom prst="rect">
            <a:avLst/>
          </a:prstGeom>
          <a:solidFill>
            <a:srgbClr val="FFD54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100000" y="3400000"/>
            <a:ext cx="530000" cy="350000"/>
          </a:xfrm>
          <a:prstGeom prst="rect">
            <a:avLst/>
          </a:prstGeom>
          <a:solidFill>
            <a:srgbClr val="FFD54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6630000" y="3400000"/>
            <a:ext cx="530000" cy="350000"/>
          </a:xfrm>
          <a:prstGeom prst="rect">
            <a:avLst/>
          </a:prstGeom>
          <a:solidFill>
            <a:srgbClr val="FFA726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7160000" y="3400000"/>
            <a:ext cx="530000" cy="350000"/>
          </a:xfrm>
          <a:prstGeom prst="rect">
            <a:avLst/>
          </a:prstGeom>
          <a:solidFill>
            <a:srgbClr val="FFA726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7690000" y="3400000"/>
            <a:ext cx="530000" cy="350000"/>
          </a:xfrm>
          <a:prstGeom prst="rect">
            <a:avLst/>
          </a:prstGeom>
          <a:solidFill>
            <a:srgbClr val="EF5350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8220000" y="3400000"/>
            <a:ext cx="530000" cy="350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003266"/>
                </a:solidFill>
                <a:latin typeface="Calibri"/>
              </a:defRPr>
            </a:pPr>
            <a:r>
              <a:t>1.4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80000" y="3750000"/>
            <a:ext cx="720000" cy="350000"/>
          </a:xfrm>
          <a:prstGeom prst="rect">
            <a:avLst/>
          </a:prstGeom>
          <a:solidFill>
            <a:srgbClr val="0032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EDMF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800000" y="3750000"/>
            <a:ext cx="530000" cy="350000"/>
          </a:xfrm>
          <a:prstGeom prst="rect">
            <a:avLst/>
          </a:prstGeom>
          <a:solidFill>
            <a:srgbClr val="FFD54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1330000" y="3750000"/>
            <a:ext cx="530000" cy="350000"/>
          </a:xfrm>
          <a:prstGeom prst="rect">
            <a:avLst/>
          </a:prstGeom>
          <a:solidFill>
            <a:srgbClr val="FFA726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1860000" y="3750000"/>
            <a:ext cx="530000" cy="350000"/>
          </a:xfrm>
          <a:prstGeom prst="rect">
            <a:avLst/>
          </a:prstGeom>
          <a:solidFill>
            <a:srgbClr val="FFD54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2390000" y="3750000"/>
            <a:ext cx="530000" cy="350000"/>
          </a:xfrm>
          <a:prstGeom prst="rect">
            <a:avLst/>
          </a:prstGeom>
          <a:solidFill>
            <a:srgbClr val="FFD54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2920000" y="3750000"/>
            <a:ext cx="530000" cy="350000"/>
          </a:xfrm>
          <a:prstGeom prst="rect">
            <a:avLst/>
          </a:prstGeom>
          <a:solidFill>
            <a:srgbClr val="FFA726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3450000" y="3750000"/>
            <a:ext cx="530000" cy="350000"/>
          </a:xfrm>
          <a:prstGeom prst="rect">
            <a:avLst/>
          </a:prstGeom>
          <a:solidFill>
            <a:srgbClr val="FFD54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3980000" y="3750000"/>
            <a:ext cx="530000" cy="350000"/>
          </a:xfrm>
          <a:prstGeom prst="rect">
            <a:avLst/>
          </a:prstGeom>
          <a:solidFill>
            <a:srgbClr val="FFA726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4510000" y="3750000"/>
            <a:ext cx="530000" cy="350000"/>
          </a:xfrm>
          <a:prstGeom prst="rect">
            <a:avLst/>
          </a:prstGeom>
          <a:solidFill>
            <a:srgbClr val="EF5350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5040000" y="3750000"/>
            <a:ext cx="530000" cy="350000"/>
          </a:xfrm>
          <a:prstGeom prst="rect">
            <a:avLst/>
          </a:prstGeom>
          <a:solidFill>
            <a:srgbClr val="FFD54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5570000" y="3750000"/>
            <a:ext cx="530000" cy="350000"/>
          </a:xfrm>
          <a:prstGeom prst="rect">
            <a:avLst/>
          </a:prstGeom>
          <a:solidFill>
            <a:srgbClr val="FFD54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6100000" y="3750000"/>
            <a:ext cx="530000" cy="350000"/>
          </a:xfrm>
          <a:prstGeom prst="rect">
            <a:avLst/>
          </a:prstGeom>
          <a:solidFill>
            <a:srgbClr val="FFD54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630000" y="3750000"/>
            <a:ext cx="530000" cy="350000"/>
          </a:xfrm>
          <a:prstGeom prst="rect">
            <a:avLst/>
          </a:prstGeom>
          <a:solidFill>
            <a:srgbClr val="EF5350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7160000" y="3750000"/>
            <a:ext cx="530000" cy="350000"/>
          </a:xfrm>
          <a:prstGeom prst="rect">
            <a:avLst/>
          </a:prstGeom>
          <a:solidFill>
            <a:srgbClr val="FFD54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7690000" y="3750000"/>
            <a:ext cx="530000" cy="350000"/>
          </a:xfrm>
          <a:prstGeom prst="rect">
            <a:avLst/>
          </a:prstGeom>
          <a:solidFill>
            <a:srgbClr val="EF5350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333333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8220000" y="3750000"/>
            <a:ext cx="530000" cy="350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003266"/>
                </a:solidFill>
                <a:latin typeface="Calibri"/>
              </a:defRPr>
            </a:pPr>
            <a:r>
              <a:t>1.4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80000" y="4160000"/>
            <a:ext cx="8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003266"/>
                </a:solidFill>
                <a:latin typeface="Calibri"/>
              </a:defRPr>
            </a:pPr>
            <a:r>
              <a:t>Legend: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880000" y="4160000"/>
            <a:ext cx="700000" cy="200000"/>
          </a:xfrm>
          <a:prstGeom prst="round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0">
                <a:solidFill>
                  <a:srgbClr val="FFFFFF"/>
                </a:solidFill>
                <a:latin typeface="Calibri"/>
              </a:defRPr>
            </a:pPr>
            <a:r>
              <a:t>0 = None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1630000" y="4160000"/>
            <a:ext cx="700000" cy="200000"/>
          </a:xfrm>
          <a:prstGeom prst="roundRect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0">
                <a:solidFill>
                  <a:srgbClr val="FFFFFF"/>
                </a:solidFill>
                <a:latin typeface="Calibri"/>
              </a:defRPr>
            </a:pPr>
            <a:r>
              <a:t>1 = Low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2380000" y="4160000"/>
            <a:ext cx="700000" cy="200000"/>
          </a:xfrm>
          <a:prstGeom prst="round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0">
                <a:solidFill>
                  <a:srgbClr val="333333"/>
                </a:solidFill>
                <a:latin typeface="Calibri"/>
              </a:defRPr>
            </a:pPr>
            <a:r>
              <a:t>2 = Medium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3130000" y="4160000"/>
            <a:ext cx="700000" cy="200000"/>
          </a:xfrm>
          <a:prstGeom prst="round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0">
                <a:solidFill>
                  <a:srgbClr val="FFFFFF"/>
                </a:solidFill>
                <a:latin typeface="Calibri"/>
              </a:defRPr>
            </a:pPr>
            <a:r>
              <a:t>3 = High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80000" y="4410000"/>
            <a:ext cx="8636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666666"/>
                </a:solidFill>
                <a:latin typeface="Calibri"/>
              </a:defRPr>
            </a:pPr>
            <a:r>
              <a:t>ECCO and ISSM lead overall. Common gaps: ML/AI integration, stakeholder adoption, and computational performance.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Model Deep Dives: ECCO &amp; ISSM</a:t>
            </a:r>
          </a:p>
        </p:txBody>
      </p:sp>
      <p:sp>
        <p:nvSpPr>
          <p:cNvPr id="4" name="Rectangle 3"/>
          <p:cNvSpPr/>
          <p:nvPr/>
        </p:nvSpPr>
        <p:spPr>
          <a:xfrm>
            <a:off x="254000" y="870000"/>
            <a:ext cx="4100000" cy="30000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ECCO — Tier 1 Average: 2.5/3.0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4000" y="1220000"/>
            <a:ext cx="41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2E8B57"/>
                </a:solidFill>
                <a:latin typeface="Calibri"/>
              </a:defRPr>
            </a:pPr>
            <a:r>
              <a:t>Strengths (Level 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4000" y="1420000"/>
            <a:ext cx="40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 Process Representation: State-of-the-art ocean GCM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 Observational Constraint: 14+ observation types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 Retrospective Analysis: v4r4 reanalysis 1992–2017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 V&amp;V Framework: Extensive intercomparison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 Mission Support: OSSEs for GRACE-FO, SWOT, Sentinel-6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 Temporal Resolution (3): Sub-daily to decadal, monthly output products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 Predictive Skill (3): Validated against 14+ independent observation types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 Interoperability (3): Open data, standardized outputs, community 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4000" y="2700000"/>
            <a:ext cx="41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E04040"/>
                </a:solidFill>
                <a:latin typeface="Calibri"/>
              </a:defRPr>
            </a:pPr>
            <a:r>
              <a:t>Improvement Areas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4000" y="2900000"/>
            <a:ext cx="40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 ML/AI Integration (1): Research-stage only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 Stakeholder Adoption (2): Not yet operational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4554000" y="870000"/>
            <a:ext cx="4100000" cy="300000"/>
          </a:xfrm>
          <a:prstGeom prst="rect">
            <a:avLst/>
          </a:prstGeom>
          <a:solidFill>
            <a:srgbClr val="007C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ISSM — Tier 1 Average: 2.3/3.0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04000" y="1220000"/>
            <a:ext cx="41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2E8B57"/>
                </a:solidFill>
                <a:latin typeface="Calibri"/>
              </a:defRPr>
            </a:pPr>
            <a:r>
              <a:t>Strengths (Level 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4000" y="1420000"/>
            <a:ext cx="40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 Process Representation: Full ice-sheet + solid Earth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 Spatial Resolution: Adaptive mesh, sub-km at margins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 Process Coupling: 3-way ice-solid Earth-sea level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 V&amp;V Framework: ISMIP6/CMIP6, initMIP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 Interoperability: Open source, active community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4000" y="2700000"/>
            <a:ext cx="41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E04040"/>
                </a:solidFill>
                <a:latin typeface="Calibri"/>
              </a:defRPr>
            </a:pPr>
            <a:r>
              <a:t>Improvement Areas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4000" y="2900000"/>
            <a:ext cx="40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 ML/AI Integration (1): Exploratory only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 Retrospective Analysis (2): Not continuous reanalysis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 Stakeholder Adoption (2): Expert interpretation required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Gap Analysis: Common Development Needs</a:t>
            </a:r>
          </a:p>
        </p:txBody>
      </p:sp>
      <p:sp>
        <p:nvSpPr>
          <p:cNvPr id="4" name="Rectangle 3"/>
          <p:cNvSpPr/>
          <p:nvPr/>
        </p:nvSpPr>
        <p:spPr>
          <a:xfrm>
            <a:off x="354000" y="870000"/>
            <a:ext cx="2800000" cy="260000"/>
          </a:xfrm>
          <a:prstGeom prst="rect">
            <a:avLst/>
          </a:prstGeom>
          <a:solidFill>
            <a:srgbClr val="0032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Dimension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154000" y="870000"/>
            <a:ext cx="1400000" cy="260000"/>
          </a:xfrm>
          <a:prstGeom prst="rect">
            <a:avLst/>
          </a:prstGeom>
          <a:solidFill>
            <a:srgbClr val="0032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Models &lt; Level 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54000" y="870000"/>
            <a:ext cx="1200000" cy="260000"/>
          </a:xfrm>
          <a:prstGeom prst="rect">
            <a:avLst/>
          </a:prstGeom>
          <a:solidFill>
            <a:srgbClr val="0032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Mean Score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754000" y="870000"/>
            <a:ext cx="1200000" cy="260000"/>
          </a:xfrm>
          <a:prstGeom prst="rect">
            <a:avLst/>
          </a:prstGeom>
          <a:solidFill>
            <a:srgbClr val="0032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Priority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354000" y="1130000"/>
            <a:ext cx="2800000" cy="260000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>
              <a:defRPr sz="800" b="0">
                <a:solidFill>
                  <a:srgbClr val="333333"/>
                </a:solidFill>
                <a:latin typeface="Calibri"/>
              </a:defRPr>
            </a:pPr>
            <a:r>
              <a:t>ML/AI Integration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154000" y="1130000"/>
            <a:ext cx="1400000" cy="260000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0">
                <a:solidFill>
                  <a:srgbClr val="333333"/>
                </a:solidFill>
                <a:latin typeface="Calibri"/>
              </a:defRPr>
            </a:pPr>
            <a:r>
              <a:t>6/8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54000" y="1130000"/>
            <a:ext cx="1200000" cy="260000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0">
                <a:solidFill>
                  <a:srgbClr val="333333"/>
                </a:solidFill>
                <a:latin typeface="Calibri"/>
              </a:defRPr>
            </a:pPr>
            <a:r>
              <a:t>1.1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54000" y="1130000"/>
            <a:ext cx="1200000" cy="260000"/>
          </a:xfrm>
          <a:prstGeom prst="rect">
            <a:avLst/>
          </a:prstGeom>
          <a:solidFill>
            <a:srgbClr val="E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4000" y="1390000"/>
            <a:ext cx="2800000" cy="260000"/>
          </a:xfrm>
          <a:prstGeom prst="rect">
            <a:avLst/>
          </a:prstGeom>
          <a:noFill/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>
              <a:defRPr sz="800" b="0">
                <a:solidFill>
                  <a:srgbClr val="333333"/>
                </a:solidFill>
                <a:latin typeface="Calibri"/>
              </a:defRPr>
            </a:pPr>
            <a:r>
              <a:t>Mission Support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54000" y="1390000"/>
            <a:ext cx="1400000" cy="260000"/>
          </a:xfrm>
          <a:prstGeom prst="rect">
            <a:avLst/>
          </a:prstGeom>
          <a:noFill/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0">
                <a:solidFill>
                  <a:srgbClr val="333333"/>
                </a:solidFill>
                <a:latin typeface="Calibri"/>
              </a:defRPr>
            </a:pPr>
            <a:r>
              <a:t>4/8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54000" y="1390000"/>
            <a:ext cx="1200000" cy="260000"/>
          </a:xfrm>
          <a:prstGeom prst="rect">
            <a:avLst/>
          </a:prstGeom>
          <a:noFill/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0">
                <a:solidFill>
                  <a:srgbClr val="333333"/>
                </a:solidFill>
                <a:latin typeface="Calibri"/>
              </a:defRPr>
            </a:pPr>
            <a:r>
              <a:t>1.5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54000" y="1390000"/>
            <a:ext cx="1200000" cy="260000"/>
          </a:xfrm>
          <a:prstGeom prst="rect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4000" y="1650000"/>
            <a:ext cx="2800000" cy="260000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>
              <a:defRPr sz="800" b="0">
                <a:solidFill>
                  <a:srgbClr val="333333"/>
                </a:solidFill>
                <a:latin typeface="Calibri"/>
              </a:defRPr>
            </a:pPr>
            <a:r>
              <a:t>Stakeholder Adoption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54000" y="1650000"/>
            <a:ext cx="1400000" cy="260000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0">
                <a:solidFill>
                  <a:srgbClr val="333333"/>
                </a:solidFill>
                <a:latin typeface="Calibri"/>
              </a:defRPr>
            </a:pPr>
            <a:r>
              <a:t>4/8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54000" y="1650000"/>
            <a:ext cx="1200000" cy="260000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0">
                <a:solidFill>
                  <a:srgbClr val="333333"/>
                </a:solidFill>
                <a:latin typeface="Calibri"/>
              </a:defRPr>
            </a:pPr>
            <a:r>
              <a:t>1.3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54000" y="1650000"/>
            <a:ext cx="1200000" cy="260000"/>
          </a:xfrm>
          <a:prstGeom prst="rect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4000" y="1910000"/>
            <a:ext cx="2800000" cy="260000"/>
          </a:xfrm>
          <a:prstGeom prst="rect">
            <a:avLst/>
          </a:prstGeom>
          <a:noFill/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>
              <a:defRPr sz="800" b="0">
                <a:solidFill>
                  <a:srgbClr val="333333"/>
                </a:solidFill>
                <a:latin typeface="Calibri"/>
              </a:defRPr>
            </a:pPr>
            <a:r>
              <a:t>Process Coupling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54000" y="1910000"/>
            <a:ext cx="1400000" cy="260000"/>
          </a:xfrm>
          <a:prstGeom prst="rect">
            <a:avLst/>
          </a:prstGeom>
          <a:noFill/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0">
                <a:solidFill>
                  <a:srgbClr val="333333"/>
                </a:solidFill>
                <a:latin typeface="Calibri"/>
              </a:defRPr>
            </a:pPr>
            <a:r>
              <a:t>3/8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54000" y="1910000"/>
            <a:ext cx="1200000" cy="260000"/>
          </a:xfrm>
          <a:prstGeom prst="rect">
            <a:avLst/>
          </a:prstGeom>
          <a:noFill/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0">
                <a:solidFill>
                  <a:srgbClr val="333333"/>
                </a:solidFill>
                <a:latin typeface="Calibri"/>
              </a:defRPr>
            </a:pPr>
            <a:r>
              <a:t>1.8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54000" y="1910000"/>
            <a:ext cx="1200000" cy="260000"/>
          </a:xfrm>
          <a:prstGeom prst="rect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4000" y="2170000"/>
            <a:ext cx="2800000" cy="260000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>
              <a:defRPr sz="800" b="0">
                <a:solidFill>
                  <a:srgbClr val="333333"/>
                </a:solidFill>
                <a:latin typeface="Calibri"/>
              </a:defRPr>
            </a:pPr>
            <a:r>
              <a:t>Computational Performance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54000" y="2170000"/>
            <a:ext cx="1400000" cy="260000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0">
                <a:solidFill>
                  <a:srgbClr val="333333"/>
                </a:solidFill>
                <a:latin typeface="Calibri"/>
              </a:defRPr>
            </a:pPr>
            <a:r>
              <a:t>3/8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54000" y="2170000"/>
            <a:ext cx="1200000" cy="260000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0">
                <a:solidFill>
                  <a:srgbClr val="333333"/>
                </a:solidFill>
                <a:latin typeface="Calibri"/>
              </a:defRPr>
            </a:pPr>
            <a:r>
              <a:t>1.6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54000" y="2170000"/>
            <a:ext cx="1200000" cy="260000"/>
          </a:xfrm>
          <a:prstGeom prst="rect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4000" y="2430000"/>
            <a:ext cx="2800000" cy="260000"/>
          </a:xfrm>
          <a:prstGeom prst="rect">
            <a:avLst/>
          </a:prstGeom>
          <a:noFill/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>
              <a:defRPr sz="800" b="0">
                <a:solidFill>
                  <a:srgbClr val="333333"/>
                </a:solidFill>
                <a:latin typeface="Calibri"/>
              </a:defRPr>
            </a:pPr>
            <a:r>
              <a:t>Spatial Resolution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54000" y="2430000"/>
            <a:ext cx="1400000" cy="260000"/>
          </a:xfrm>
          <a:prstGeom prst="rect">
            <a:avLst/>
          </a:prstGeom>
          <a:noFill/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0">
                <a:solidFill>
                  <a:srgbClr val="333333"/>
                </a:solidFill>
                <a:latin typeface="Calibri"/>
              </a:defRPr>
            </a:pPr>
            <a:r>
              <a:t>2/8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54000" y="2430000"/>
            <a:ext cx="1200000" cy="260000"/>
          </a:xfrm>
          <a:prstGeom prst="rect">
            <a:avLst/>
          </a:prstGeom>
          <a:noFill/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0">
                <a:solidFill>
                  <a:srgbClr val="333333"/>
                </a:solidFill>
                <a:latin typeface="Calibri"/>
              </a:defRPr>
            </a:pPr>
            <a:r>
              <a:t>2.0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54000" y="2430000"/>
            <a:ext cx="1200000" cy="2600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LOW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4000" y="2690000"/>
            <a:ext cx="2800000" cy="260000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>
              <a:defRPr sz="800" b="0">
                <a:solidFill>
                  <a:srgbClr val="333333"/>
                </a:solidFill>
                <a:latin typeface="Calibri"/>
              </a:defRPr>
            </a:pPr>
            <a:r>
              <a:t>Predictive Skill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54000" y="2690000"/>
            <a:ext cx="1400000" cy="260000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0">
                <a:solidFill>
                  <a:srgbClr val="333333"/>
                </a:solidFill>
                <a:latin typeface="Calibri"/>
              </a:defRPr>
            </a:pPr>
            <a:r>
              <a:t>2/8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54000" y="2690000"/>
            <a:ext cx="1200000" cy="260000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0">
                <a:solidFill>
                  <a:srgbClr val="333333"/>
                </a:solidFill>
                <a:latin typeface="Calibri"/>
              </a:defRPr>
            </a:pPr>
            <a:r>
              <a:t>1.9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54000" y="2690000"/>
            <a:ext cx="1200000" cy="2600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LOW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54000" y="2950000"/>
            <a:ext cx="2800000" cy="260000"/>
          </a:xfrm>
          <a:prstGeom prst="rect">
            <a:avLst/>
          </a:prstGeom>
          <a:noFill/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>
              <a:defRPr sz="800" b="0">
                <a:solidFill>
                  <a:srgbClr val="333333"/>
                </a:solidFill>
                <a:latin typeface="Calibri"/>
              </a:defRPr>
            </a:pPr>
            <a:r>
              <a:t>Observational Constraint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54000" y="2950000"/>
            <a:ext cx="1400000" cy="260000"/>
          </a:xfrm>
          <a:prstGeom prst="rect">
            <a:avLst/>
          </a:prstGeom>
          <a:noFill/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0">
                <a:solidFill>
                  <a:srgbClr val="333333"/>
                </a:solidFill>
                <a:latin typeface="Calibri"/>
              </a:defRPr>
            </a:pPr>
            <a:r>
              <a:t>2/8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54000" y="2950000"/>
            <a:ext cx="1200000" cy="260000"/>
          </a:xfrm>
          <a:prstGeom prst="rect">
            <a:avLst/>
          </a:prstGeom>
          <a:noFill/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0">
                <a:solidFill>
                  <a:srgbClr val="333333"/>
                </a:solidFill>
                <a:latin typeface="Calibri"/>
              </a:defRPr>
            </a:pPr>
            <a:r>
              <a:t>2.0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754000" y="2950000"/>
            <a:ext cx="1200000" cy="2600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LOW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54000" y="3210000"/>
            <a:ext cx="2800000" cy="260000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>
              <a:defRPr sz="800" b="0">
                <a:solidFill>
                  <a:srgbClr val="333333"/>
                </a:solidFill>
                <a:latin typeface="Calibri"/>
              </a:defRPr>
            </a:pPr>
            <a:r>
              <a:t>Retrospective Analysis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54000" y="3210000"/>
            <a:ext cx="1400000" cy="260000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0">
                <a:solidFill>
                  <a:srgbClr val="333333"/>
                </a:solidFill>
                <a:latin typeface="Calibri"/>
              </a:defRPr>
            </a:pPr>
            <a:r>
              <a:t>2/8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54000" y="3210000"/>
            <a:ext cx="1200000" cy="260000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0">
                <a:solidFill>
                  <a:srgbClr val="333333"/>
                </a:solidFill>
                <a:latin typeface="Calibri"/>
              </a:defRPr>
            </a:pPr>
            <a:r>
              <a:t>1.6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754000" y="3210000"/>
            <a:ext cx="1200000" cy="2600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LOW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54000" y="3470000"/>
            <a:ext cx="2800000" cy="260000"/>
          </a:xfrm>
          <a:prstGeom prst="rect">
            <a:avLst/>
          </a:prstGeom>
          <a:noFill/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>
              <a:defRPr sz="800" b="0">
                <a:solidFill>
                  <a:srgbClr val="333333"/>
                </a:solidFill>
                <a:latin typeface="Calibri"/>
              </a:defRPr>
            </a:pPr>
            <a:r>
              <a:t>UQ &amp; Attribution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154000" y="3470000"/>
            <a:ext cx="1400000" cy="260000"/>
          </a:xfrm>
          <a:prstGeom prst="rect">
            <a:avLst/>
          </a:prstGeom>
          <a:noFill/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0">
                <a:solidFill>
                  <a:srgbClr val="333333"/>
                </a:solidFill>
                <a:latin typeface="Calibri"/>
              </a:defRPr>
            </a:pPr>
            <a:r>
              <a:t>2/8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54000" y="3470000"/>
            <a:ext cx="1200000" cy="260000"/>
          </a:xfrm>
          <a:prstGeom prst="rect">
            <a:avLst/>
          </a:prstGeom>
          <a:noFill/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0">
                <a:solidFill>
                  <a:srgbClr val="333333"/>
                </a:solidFill>
                <a:latin typeface="Calibri"/>
              </a:defRPr>
            </a:pPr>
            <a:r>
              <a:t>1.9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754000" y="3470000"/>
            <a:ext cx="1200000" cy="2600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LOW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54000" y="3990000"/>
            <a:ext cx="8636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003266"/>
                </a:solidFill>
                <a:latin typeface="Calibri"/>
              </a:defRPr>
            </a:pPr>
            <a:r>
              <a:t>Strategic Recommendations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84000" y="4210000"/>
            <a:ext cx="8636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333333"/>
                </a:solidFill>
                <a:latin typeface="Calibri"/>
              </a:rPr>
              <a:t>ML/AI Integration: </a:t>
            </a:r>
            <a:r>
              <a:rPr sz="800">
                <a:solidFill>
                  <a:srgbClr val="333333"/>
                </a:solidFill>
                <a:latin typeface="Calibri"/>
              </a:rPr>
              <a:t>Cross-model ML investment would benefit all 8 teams.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333333"/>
                </a:solidFill>
                <a:latin typeface="Calibri"/>
              </a:rPr>
              <a:t>Stakeholder Adoption: </a:t>
            </a:r>
            <a:r>
              <a:rPr sz="800">
                <a:solidFill>
                  <a:srgbClr val="333333"/>
                </a:solidFill>
                <a:latin typeface="Calibri"/>
              </a:rPr>
              <a:t>Bridge from research to operational use via dedicated engagement.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333333"/>
                </a:solidFill>
                <a:latin typeface="Calibri"/>
              </a:rPr>
              <a:t>Computational Performance: </a:t>
            </a:r>
            <a:r>
              <a:rPr sz="800">
                <a:solidFill>
                  <a:srgbClr val="333333"/>
                </a:solidFill>
                <a:latin typeface="Calibri"/>
              </a:rPr>
              <a:t>GPU/cloud portability is a common barrier — shared infrastructure.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333333"/>
                </a:solidFill>
                <a:latin typeface="Calibri"/>
              </a:rPr>
              <a:t>Retrospective Analysis: </a:t>
            </a:r>
            <a:r>
              <a:rPr sz="800">
                <a:solidFill>
                  <a:srgbClr val="333333"/>
                </a:solidFill>
                <a:latin typeface="Calibri"/>
              </a:rPr>
              <a:t>Opportunity for coupled, long-term reanalysis products.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Dashboard Architecture</a:t>
            </a:r>
          </a:p>
        </p:txBody>
      </p:sp>
      <p:pic>
        <p:nvPicPr>
          <p:cNvPr id="4" name="Picture 3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000" y="800000"/>
            <a:ext cx="4400000" cy="9505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900000" y="850000"/>
            <a:ext cx="40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003266"/>
                </a:solidFill>
                <a:latin typeface="Calibri"/>
              </a:defRPr>
            </a:pPr>
            <a:r>
              <a:t>Key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0000" y="1100000"/>
            <a:ext cx="39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 React (CRA) + React Router SPA with Tailwind CSS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 Recharts for interactive data visualizations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 D3.js + TopoJSON for maps &amp; force-directed graphs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 Context-aware navigation: JEME ↔ JEOE with dynamic branding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 Generic + model-specific page architecture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 Evidence-linked scoring: click any MCL cell for justification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00000" y="2800000"/>
            <a:ext cx="40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003266"/>
                </a:solidFill>
                <a:latin typeface="Calibri"/>
              </a:defRPr>
            </a:pPr>
            <a:r>
              <a:t>Route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0000" y="3050000"/>
            <a:ext cx="39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 /science-model-dashboard — JEME (8 models)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 /science-model-dashboard/JEOE — JEOE (missions)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 /{model}/citations | geographic-impact | research-domains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 /{model}/uncertainty | maturity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 /earth-system | /model-maturity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Surprise: Introducing JESP</a:t>
            </a:r>
          </a:p>
        </p:txBody>
      </p:sp>
      <p:pic>
        <p:nvPicPr>
          <p:cNvPr id="4" name="Picture 3" descr="tri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000" y="780000"/>
            <a:ext cx="8650000" cy="248547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4000" y="3400000"/>
            <a:ext cx="8636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666666"/>
                </a:solidFill>
                <a:latin typeface="Calibri"/>
              </a:defRPr>
            </a:pPr>
            <a:r>
              <a:t>The same technology behind JEME &amp; JEOE was rapidly applied to build a third dashboard:</a:t>
            </a:r>
          </a:p>
        </p:txBody>
      </p:sp>
      <p:sp>
        <p:nvSpPr>
          <p:cNvPr id="6" name="Rectangle 5"/>
          <p:cNvSpPr/>
          <p:nvPr/>
        </p:nvSpPr>
        <p:spPr>
          <a:xfrm>
            <a:off x="1500000" y="3750000"/>
            <a:ext cx="6100000" cy="600000"/>
          </a:xfrm>
          <a:prstGeom prst="rect">
            <a:avLst/>
          </a:prstGeom>
          <a:solidFill>
            <a:srgbClr val="6B5B95"/>
          </a:solidFill>
          <a:ln w="6350">
            <a:solidFill>
              <a:srgbClr val="3D2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00000" y="3780000"/>
            <a:ext cx="59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JESP — JPL Earth Science Profiles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000" y="4080000"/>
            <a:ext cx="59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D0C8E8"/>
                </a:solidFill>
                <a:latin typeface="Calibri"/>
              </a:defRPr>
            </a:pPr>
            <a:r>
              <a:t>199 scientists  •  12,700+ publications  •  1M+ citations  •  Collaboration network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JESP: JPL Earth Science Profiles</a:t>
            </a:r>
          </a:p>
        </p:txBody>
      </p:sp>
      <p:pic>
        <p:nvPicPr>
          <p:cNvPr id="4" name="Picture 3" descr="jesp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00" y="800000"/>
            <a:ext cx="8750000" cy="11609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4000" y="2300000"/>
            <a:ext cx="42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003266"/>
                </a:solidFill>
                <a:latin typeface="Calibri"/>
              </a:defRPr>
            </a:pPr>
            <a:r>
              <a:t>What It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4000" y="2500000"/>
            <a:ext cx="414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 Crawls JPL Earth Science Section website for all scientists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 Extracts publications via OpenAlex &amp; Semantic Scholar APIs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 AI expertise classification using Gemini LLM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 3-phase Bayesian uncertainty quantification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 Interactive network graph of co-publication 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54000" y="2300000"/>
            <a:ext cx="42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003266"/>
                </a:solidFill>
                <a:latin typeface="Calibri"/>
              </a:defRPr>
            </a:pPr>
            <a:r>
              <a:t>Key 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4000" y="2500000"/>
            <a:ext cx="414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 199 scientists across 11 research groups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 12,768 total publications extracted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 1,022,329 total citations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 Per-scientist: H-index, domain classification, expertise tags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 Collaboration network: 1,281 co-publication connections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4000" y="4200000"/>
            <a:ext cx="8636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6B5B95"/>
                </a:solidFill>
                <a:latin typeface="Calibri"/>
              </a:defRPr>
            </a:pPr>
            <a:r>
              <a:t>Built in days by reusing the citation analytics, LLM classification, and UQ pipeline from JEME/JEOE.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JESP Dashboard: Live Demonstrations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190000" y="770000"/>
            <a:ext cx="4320000" cy="2720000"/>
          </a:xfrm>
          <a:prstGeom prst="rect">
            <a:avLst/>
          </a:prstGeom>
          <a:noFill/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jesp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00" y="780000"/>
            <a:ext cx="4300000" cy="2700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640000" y="770000"/>
            <a:ext cx="4320000" cy="2720000"/>
          </a:xfrm>
          <a:prstGeom prst="rect">
            <a:avLst/>
          </a:prstGeom>
          <a:noFill/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jesp_netwo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0000" y="780000"/>
            <a:ext cx="4300000" cy="270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00000" y="3550000"/>
            <a:ext cx="43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Scientist Profiles — search, filter, domain distribution, publication trends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50000" y="3550000"/>
            <a:ext cx="43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Collaboration Network — 199 scientists, 1,281 co-publication links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4000" y="3900000"/>
            <a:ext cx="8636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6B5B95"/>
                </a:solidFill>
                <a:latin typeface="Calibri"/>
              </a:defRPr>
            </a:pPr>
            <a:r>
              <a:t>http://34.31.165.25:3002/sci-profile/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Path Forward &amp;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254000" y="870000"/>
            <a:ext cx="4100000" cy="30000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4000" y="1220000"/>
            <a:ext cx="40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 LLM-enhanced MCL scoring: auto-classify papers, generate evidence summaries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 Periodic reassessment: annual MCL review cycle with model teams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 Community adoption: external evaluators for independent scoring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 JESP integration: link scientist expertise to model capabilities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 Extend JEOE: add more NASA missions as data becomes available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 Cross-dashboard analytics: unified JEME + JEOE + JESP insights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54000" y="870000"/>
            <a:ext cx="4100000" cy="300000"/>
          </a:xfrm>
          <a:prstGeom prst="rect">
            <a:avLst/>
          </a:prstGeom>
          <a:solidFill>
            <a:srgbClr val="007C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04000" y="1220000"/>
            <a:ext cx="40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 Three dashboards — JEME, JEOE, JESP — from one shared technology platform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 Multi-agent pipeline ensures data quality with calibrated uncertainty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 MCL framework: systematic, evidence-based capability assessment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 JESP: rapid reuse proves platform extensibility (199 scientists in days)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 Common gaps: ML/AI integration and stakeholder adoption across JEME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 Framework is living and extensible — designed for periodic reassessment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4000" y="3600000"/>
            <a:ext cx="8636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003266"/>
                </a:solidFill>
                <a:latin typeface="Calibri"/>
              </a:defRPr>
            </a:pPr>
            <a:r>
              <a:t>JEME: http://34.31.165.25:3000/science-model-dashboard/     JESP: http://34.31.165.25:3002/sci-profile/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4000" y="3900000"/>
            <a:ext cx="8636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003266"/>
                </a:solidFill>
                <a:latin typeface="Calibri"/>
              </a:defRPr>
            </a:pPr>
            <a:r>
              <a:t>Thank you — Questions?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UIDATA" val="&lt;database version=&quot;11.0&quot;&gt;&lt;object type=&quot;1&quot; unique_id=&quot;10001&quot;&gt;&lt;object type=&quot;2&quot; unique_id=&quot;10522&quot;&gt;&lt;object type=&quot;3&quot; unique_id=&quot;10523&quot;&gt;&lt;property id=&quot;20148&quot; value=&quot;5&quot;/&gt;&lt;property id=&quot;20300&quot; value=&quot;Slide 1&quot;/&gt;&lt;property id=&quot;20307&quot; value=&quot;277&quot;/&gt;&lt;/object&gt;&lt;object type=&quot;3&quot; unique_id=&quot;10524&quot;&gt;&lt;property id=&quot;20148&quot; value=&quot;5&quot;/&gt;&lt;property id=&quot;20300&quot; value=&quot;Slide 2&quot;/&gt;&lt;property id=&quot;20307&quot; value=&quot;281&quot;/&gt;&lt;/object&gt;&lt;object type=&quot;3&quot; unique_id=&quot;10525&quot;&gt;&lt;property id=&quot;20148&quot; value=&quot;5&quot;/&gt;&lt;property id=&quot;20300&quot; value=&quot;Slide 3&quot;/&gt;&lt;property id=&quot;20307&quot; value=&quot;280&quot;/&gt;&lt;/object&gt;&lt;object type=&quot;3&quot; unique_id=&quot;10526&quot;&gt;&lt;property id=&quot;20148&quot; value=&quot;5&quot;/&gt;&lt;property id=&quot;20300&quot; value=&quot;Slide 4&quot;/&gt;&lt;property id=&quot;20307&quot; value=&quot;278&quot;/&gt;&lt;/object&gt;&lt;/object&gt;&lt;object type=&quot;8&quot; unique_id=&quot;10532&quot;&gt;&lt;/object&gt;&lt;/object&gt;&lt;/database&gt;"/>
  <p:tag name="MMPROD_NEXTUNIQUEID" val="10010"/>
  <p:tag name="SECTOMILLISECCONVERTED" val="1"/>
</p:tagLst>
</file>

<file path=ppt/theme/theme1.xml><?xml version="1.0" encoding="utf-8"?>
<a:theme xmlns:a="http://schemas.openxmlformats.org/drawingml/2006/main" name="NASAjpl-WhiteTheme-16x9-vA6">
  <a:themeElements>
    <a:clrScheme name="NASA-JPL - Jan 2017">
      <a:dk1>
        <a:sysClr val="windowText" lastClr="000000"/>
      </a:dk1>
      <a:lt1>
        <a:sysClr val="window" lastClr="FFFFFF"/>
      </a:lt1>
      <a:dk2>
        <a:srgbClr val="5D5D60"/>
      </a:dk2>
      <a:lt2>
        <a:srgbClr val="E4E9EF"/>
      </a:lt2>
      <a:accent1>
        <a:srgbClr val="6083AA"/>
      </a:accent1>
      <a:accent2>
        <a:srgbClr val="94A8C2"/>
      </a:accent2>
      <a:accent3>
        <a:srgbClr val="0B3D91"/>
      </a:accent3>
      <a:accent4>
        <a:srgbClr val="E31937"/>
      </a:accent4>
      <a:accent5>
        <a:srgbClr val="F2A900"/>
      </a:accent5>
      <a:accent6>
        <a:srgbClr val="A4B34C"/>
      </a:accent6>
      <a:hlink>
        <a:srgbClr val="0E7EE0"/>
      </a:hlink>
      <a:folHlink>
        <a:srgbClr val="0E7EE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/>
        </a:solidFill>
        <a:ln>
          <a:noFill/>
        </a:ln>
        <a:effectLst/>
      </a:spPr>
      <a:bodyPr rtlCol="0" anchor="ctr">
        <a:noAutofit/>
      </a:bodyPr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 cmpd="sng">
          <a:solidFill>
            <a:schemeClr val="bg1">
              <a:lumMod val="65000"/>
            </a:schemeClr>
          </a:solidFill>
          <a:tailEnd type="arrow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NASAjpl-BlackTheme-16x9-vA6">
  <a:themeElements>
    <a:clrScheme name="NASA-JPL - Jan 2017">
      <a:dk1>
        <a:sysClr val="windowText" lastClr="000000"/>
      </a:dk1>
      <a:lt1>
        <a:sysClr val="window" lastClr="FFFFFF"/>
      </a:lt1>
      <a:dk2>
        <a:srgbClr val="5D5D60"/>
      </a:dk2>
      <a:lt2>
        <a:srgbClr val="E4E9EF"/>
      </a:lt2>
      <a:accent1>
        <a:srgbClr val="6083AA"/>
      </a:accent1>
      <a:accent2>
        <a:srgbClr val="94A8C2"/>
      </a:accent2>
      <a:accent3>
        <a:srgbClr val="0B3D91"/>
      </a:accent3>
      <a:accent4>
        <a:srgbClr val="E31937"/>
      </a:accent4>
      <a:accent5>
        <a:srgbClr val="F2A900"/>
      </a:accent5>
      <a:accent6>
        <a:srgbClr val="A4B34C"/>
      </a:accent6>
      <a:hlink>
        <a:srgbClr val="0E7EE0"/>
      </a:hlink>
      <a:folHlink>
        <a:srgbClr val="0E7EE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>
            <a:lumMod val="50000"/>
          </a:schemeClr>
        </a:solidFill>
        <a:ln>
          <a:noFill/>
        </a:ln>
        <a:effectLst/>
      </a:spPr>
      <a:bodyPr rtlCol="0" anchor="ctr">
        <a:noAutofit/>
      </a:bodyPr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 cmpd="sng">
          <a:solidFill>
            <a:schemeClr val="tx2"/>
          </a:solidFill>
          <a:headEnd type="arrow"/>
          <a:tailEnd type="arrow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dirty="0" err="1" smtClean="0">
            <a:solidFill>
              <a:schemeClr val="bg1"/>
            </a:solidFill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13125</TotalTime>
  <Words>417</Words>
  <Application>Microsoft Macintosh PowerPoint</Application>
  <PresentationFormat>On-screen Show (16:9)</PresentationFormat>
  <Paragraphs>42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NASAjpl-WhiteTheme-16x9-vA6</vt:lpstr>
      <vt:lpstr>NASAjpl-BlackTheme-16x9-vA6</vt:lpstr>
      <vt:lpstr>Office Theme</vt:lpstr>
      <vt:lpstr>PowerPoint Presentation</vt:lpstr>
      <vt:lpstr>PowerPoint Presentation</vt:lpstr>
      <vt:lpstr>PowerPoint Presentation</vt:lpstr>
      <vt:lpstr>PowerPoint Presentation</vt:lpstr>
      <vt:lpstr>Science Model Dashboard Comprehensive Research Impact Assessment Across Earth Science Models</vt:lpstr>
      <vt:lpstr>Science Model Dashboard</vt:lpstr>
      <vt:lpstr>LLM-Powered Citation Analysis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Carolyn M Stolze</dc:creator>
  <cp:lastModifiedBy>Kyongsik Yun</cp:lastModifiedBy>
  <cp:revision>126</cp:revision>
  <dcterms:created xsi:type="dcterms:W3CDTF">2016-09-08T21:41:17Z</dcterms:created>
  <dcterms:modified xsi:type="dcterms:W3CDTF">2025-09-01T23:27:43Z</dcterms:modified>
</cp:coreProperties>
</file>