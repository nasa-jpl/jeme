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88952" cy="54864"/>
          </a:xfrm>
          <a:prstGeom prst="rect">
            <a:avLst/>
          </a:prstGeom>
          <a:solidFill>
            <a:srgbClr val="C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Private Sector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</a:rPr>
              <a:t>NASA Earth Models &amp; Missions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ACC"/>
                </a:solidFill>
              </a:rPr>
              <a:t>Connecting NASA science to industry |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2194560" cy="868680"/>
          </a:xfrm>
          <a:prstGeom prst="rect">
            <a:avLst/>
          </a:prstGeom>
          <a:solidFill>
            <a:srgbClr val="0A1A4A"/>
          </a:solidFill>
          <a:ln>
            <a:solidFill>
              <a:srgbClr val="2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474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ACC"/>
                </a:solidFill>
              </a:rPr>
              <a:t>Engaged Companies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4572000"/>
            <a:ext cx="2194560" cy="868680"/>
          </a:xfrm>
          <a:prstGeom prst="rect">
            <a:avLst/>
          </a:prstGeom>
          <a:solidFill>
            <a:srgbClr val="0A1A4A"/>
          </a:solidFill>
          <a:ln>
            <a:solidFill>
              <a:srgbClr val="2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4617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0474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ACC"/>
                </a:solidFill>
              </a:rPr>
              <a:t>Industry Sectors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572000"/>
            <a:ext cx="2194560" cy="868680"/>
          </a:xfrm>
          <a:prstGeom prst="rect">
            <a:avLst/>
          </a:prstGeom>
          <a:solidFill>
            <a:srgbClr val="0A1A4A"/>
          </a:solidFill>
          <a:ln>
            <a:solidFill>
              <a:srgbClr val="2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617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0474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ACC"/>
                </a:solidFill>
              </a:rPr>
              <a:t>Earth Missions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4572000"/>
            <a:ext cx="2194560" cy="868680"/>
          </a:xfrm>
          <a:prstGeom prst="rect">
            <a:avLst/>
          </a:prstGeom>
          <a:solidFill>
            <a:srgbClr val="0A1A4A"/>
          </a:solidFill>
          <a:ln>
            <a:solidFill>
              <a:srgbClr val="2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4617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50474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ACC"/>
                </a:solidFill>
              </a:rPr>
              <a:t>Earth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NASA Jet Propulsion Laboratory | Private Sector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Dashboard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What PSE tracks and how it connects NASA science to private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C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5120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49039" cy="25603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Models &amp; 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3 flagship NASA Earth missions (GRACE, SWOT, TROPESS)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3 Earth science models (ECCO, ISSM, CMS-Flux)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Each with interactive citation analytics dashboards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Industry pitch per mission/model for BD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3749039" cy="5120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749039" cy="25603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704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Company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481328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444 private-sector companies across 20 sectors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Sector-to-mission/model relevance mapping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Engagement status tracking (Partner / Active / Prospect)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Filterable by sector, model, and engagement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3749039" cy="5120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43000"/>
            <a:ext cx="3749039" cy="25603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1704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Sector 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481328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Per-sector use-case narrative for each model/mission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NASA alumni network: 103 alumni at 41 companies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Force-directed network graph: company–model connections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E293B"/>
                </a:solidFill>
              </a:rPr>
              <a:t>• Sectors with NASA alumni highlighted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NASA Jet Propulsion Laboratory | Private Sector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NASA Earth Missions &amp;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Showcased capabilities — citation reach and industry relevance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C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78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46EF"/>
                </a:solidFill>
              </a:rPr>
              <a:t>NASA Earth Missions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3749039" cy="2514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35024"/>
            <a:ext cx="3749039" cy="256032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624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36245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DEEFF"/>
                </a:solidFill>
              </a:rPr>
              <a:t>3,084 citing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459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48A"/>
                </a:solidFill>
              </a:rPr>
              <a:t>Geophysics &amp; Geodesy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4708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Monthly groundwater &amp; ice mass changes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Drought insurance triggers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Sea-level rise components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335024"/>
            <a:ext cx="3749039" cy="2514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335024"/>
            <a:ext cx="3749039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3624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SWOT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39" y="136245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DEEFF"/>
                </a:solidFill>
              </a:rPr>
              <a:t>371 citing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16459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48A"/>
                </a:solidFill>
              </a:rPr>
              <a:t>Ocean &amp; Hydrology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84708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Global surface water elevations (&lt;1 km)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Flood mapping &amp; reservoir monitoring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Coastal sea surface height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335024"/>
            <a:ext cx="3749039" cy="2514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335024"/>
            <a:ext cx="3749039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3624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TROPESS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59" y="136245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DEEFF"/>
                </a:solidFill>
              </a:rPr>
              <a:t>771 citing papers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16459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48A"/>
                </a:solidFill>
              </a:rPr>
              <a:t>Atmospheric Chemistry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184708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Ozone, CO &amp; trace-gas profiles (CrIS/AIRS)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Air quality regulatory compliance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Pollution source attribution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867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NASA Earth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123944"/>
            <a:ext cx="3749039" cy="2514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123944"/>
            <a:ext cx="3749039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1513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ECCO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1513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DEEFF"/>
                </a:solidFill>
              </a:rPr>
              <a:t>16,320 citing papers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43484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48A"/>
                </a:solidFill>
              </a:rPr>
              <a:t>Oceanography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3600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Full-depth ocean state estimation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Maritime routing &amp; offshore energy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Coastal hazard &amp; hurricane risk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4123944"/>
            <a:ext cx="3749039" cy="2514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59" y="4123944"/>
            <a:ext cx="3749039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41513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ISSM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39" y="41513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DEEFF"/>
                </a:solidFill>
              </a:rPr>
              <a:t>3,491 citing papers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399" y="443484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48A"/>
                </a:solidFill>
              </a:rPr>
              <a:t>Glaciology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19" y="463600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Probabilistic sea-level rise projections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Ice sheet dynamics modeling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Coastal asset 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4123944"/>
            <a:ext cx="3749039" cy="2514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4123944"/>
            <a:ext cx="3749039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19" y="41513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CMS-Flux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59" y="41513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DEEFF"/>
                </a:solidFill>
              </a:rPr>
              <a:t>646 citing papers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9" y="443484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48A"/>
                </a:solidFill>
              </a:rPr>
              <a:t>Carbon Flux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39" y="463600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Satellite-verified CO₂ flux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Carbon credit &amp; ESG verification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Scope 1/2 emissions accounting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NASA Jet Propulsion Laboratory | Private Sector Engagement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Industry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444 companies across 20 sectors mapped to NASA Earth science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C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521440" cy="29260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1155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Companies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155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Relevant NASA Missions /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11521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4264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151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RAPID, ECCO, CMS-Flux, GRACE, SWOT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755648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810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Insurance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18105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1051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RAPID, GRACE, SWOT, ISSM, ECCO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39696"/>
            <a:ext cx="11521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1945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Agriculture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194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1945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RAPID, CARDAMOM, CMS-Flux, GRACE, SWOT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23744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5786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5786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LES, EDMF, CMS-Flux, ECCO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907792"/>
            <a:ext cx="11521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9626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29626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96265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CMS-Flux, CARDAMOM, GRACE, ECCO, ISSM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91840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346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Water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33467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3467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RAPID, GRACE, SWOT, ECCO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675888"/>
            <a:ext cx="11521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7307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Weather &amp; Climate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37307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7307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LES, EDMF, ECCO, RAPID, GRACE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59936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114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Supply 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41148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1148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RAPID, ECCO, GRACE, CMS-Flux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17220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0748A"/>
                </a:solidFill>
              </a:rPr>
              <a:t>* Connections inferred from shared NASA research focus areas. Direct engagement tracked separately.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NASA Jet Propulsion Laboratory | Private Sector Engagement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NASA Alumni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103 NASA/JPL alumni identified at 41 private-sector companies across 12 sectors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C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87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1E293B"/>
                </a:solidFill>
              </a:rPr>
              <a:t>• 103 NASA/JPL alumni active in private industry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1E293B"/>
                </a:solidFill>
              </a:rPr>
              <a:t>• 41 companies with at least 1 identified alumni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1E293B"/>
                </a:solidFill>
              </a:rPr>
              <a:t>• 12 industry sectors represented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1E293B"/>
                </a:solidFill>
              </a:rPr>
              <a:t>• Top sectors: Analytics, Insurance, Finance, Energy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1E293B"/>
                </a:solidFill>
              </a:rPr>
              <a:t>• Alumni serve as knowledge bridges between NASA science and industry applications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1E293B"/>
                </a:solidFill>
              </a:rPr>
              <a:t>• Network graph in dashboard links companies ↔ missions ↔ models via sector relevance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0972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87"/>
                </a:solidFill>
              </a:rPr>
              <a:t>Top Companies by NASA Alumni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63040"/>
            <a:ext cx="6035040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4904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4904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Alumni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490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37360"/>
            <a:ext cx="603504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Planet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Analytics / Earth Observation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084832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130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Maxar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1305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1305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Analytics / Earth Observation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432304"/>
            <a:ext cx="603504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24780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JPMorgan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4780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478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Finance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779776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8254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Descartes Labs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8254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8254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Analytics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3127248"/>
            <a:ext cx="603504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3172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Jupiter Intel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172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172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Insurance / Climate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474719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520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Tomorrow.io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5204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5204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Weather &amp; Climate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3822192"/>
            <a:ext cx="603504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867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BlackRock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8679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867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Finance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4169664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2153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2153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215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Insurance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4517136"/>
            <a:ext cx="603504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45628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Climavision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5628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45628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Weather &amp; Climate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4864608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4910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Carbon Mapper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4910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87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49103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48A"/>
                </a:solidFill>
              </a:rPr>
              <a:t>Carbon &amp; Conservation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17220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0748A"/>
                </a:solidFill>
              </a:rPr>
              <a:t>* Alumni data sourced from LinkedIn public profiles. Counts are approximate.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NASA Jet Propulsion Laboratory | Private Sector Engagement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